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1142" autoAdjust="0"/>
  </p:normalViewPr>
  <p:slideViewPr>
    <p:cSldViewPr snapToGrid="0" snapToObjects="1">
      <p:cViewPr varScale="1">
        <p:scale>
          <a:sx n="49" d="100"/>
          <a:sy n="49" d="100"/>
        </p:scale>
        <p:origin x="130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491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"Good morning, esteemed committee members and recruiters. My name is Deepakraj S, and today I am excited to present OmniRecon: a high-performance, asynchronous reconnaissance toolkit and external attack surface management engine.</a:t>
            </a:r>
          </a:p>
          <a:p>
            <a:endParaRPr/>
          </a:p>
          <a:p>
            <a:r>
              <a:t>In modern cybersecurity, you cannot defend what you don't know exists. OmniRecon addresses a fundamental challenge: how modern enterprises lose track of their exposed infrastructure. </a:t>
            </a:r>
          </a:p>
          <a:p>
            <a:endParaRPr/>
          </a:p>
          <a:p>
            <a:r>
              <a:t>Equally important to the security problem is how it was engineered. Today, we will examine both the offensive cybersecurity mechanics and the backend systems architecture—specifically why we transitioned away from blocking threads to a high-throughput AsyncIO event loop with non-blocking DNS and HTTP probers. Let's dive 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"Let's look at why external attack surface management is currently one of the top priorities in offensive and defensive security.</a:t>
            </a:r>
          </a:p>
          <a:p>
            <a:endParaRPr/>
          </a:p>
          <a:p>
            <a:r>
              <a:t>Large enterprises rarely have just one domain. In reality, they manage thousands of subdomains across multi-cloud environments. The root problem is asset sprawl and Shadow IT:</a:t>
            </a:r>
          </a:p>
          <a:p>
            <a:r>
              <a:t>Developers spin up an S3 bucket or Heroku app for a quick test, map `staging.company.com` via CNAME, and then delete the cloud resource when finished—without removing the DNS record.</a:t>
            </a:r>
          </a:p>
          <a:p>
            <a:endParaRPr/>
          </a:p>
          <a:p>
            <a:r>
              <a:t>This creates a high-severity vulnerability known as Subdomain Takeover. Because the DNS record is dangling, an attacker can simply register that exact S3 bucket or Heroku app name, instantly hijacking the trusted company subdomain for credential harvesting, session cookie theft, or malware distribution.</a:t>
            </a:r>
          </a:p>
          <a:p>
            <a:endParaRPr/>
          </a:p>
          <a:p>
            <a:r>
              <a:t>Furthermore, static asset inventories fail immediately. Security teams need an automated, high-speed reconnaissance pipeline that continuously discovers assets before attackers exploit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"OmniRecon is a modular, high-performance external attack surface footprinting toolkit built entirely in Python.</a:t>
            </a:r>
          </a:p>
          <a:p>
            <a:endParaRPr/>
          </a:p>
          <a:p>
            <a:r>
              <a:t>Rather than stitching together multiple disparate command-line utilities, OmniRecon provides a coherent, four-stage pipeline:</a:t>
            </a:r>
          </a:p>
          <a:p>
            <a:r>
              <a:t>First, it establishes organizational domain ownership via WHOIS and RDAP.</a:t>
            </a:r>
          </a:p>
          <a:p>
            <a:r>
              <a:t>Second, it harvests the apex domain's core DNS records across all major RFC record types.</a:t>
            </a:r>
          </a:p>
          <a:p>
            <a:r>
              <a:t>Third, it enumerates the full attack surface through a dual-paradigm subdomain engine combining passive cryptographic logs with high-concurrency active brute-forcing.</a:t>
            </a:r>
          </a:p>
          <a:p>
            <a:r>
              <a:t>Fourth, it probes live web applications on ports 80 and 443 and inspects them for Subdomain Takeovers.</a:t>
            </a:r>
          </a:p>
          <a:p>
            <a:endParaRPr/>
          </a:p>
          <a:p>
            <a:r>
              <a:t>Architecturally, OmniRecon is built on a clean decoupled design where each module is an independent, testable subsystem producing typed dataclass outputs. Let's examine each phase in detail."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"In Phase 1 and 2, we establish the foundational reconnaissance footprint. I like to explain these using two simple analogies: the 'Property Registry' and the 'Master Phonebook'.</a:t>
            </a:r>
          </a:p>
          <a:p>
            <a:endParaRPr/>
          </a:p>
          <a:p>
            <a:r>
              <a:t>Phase 1 is WHOIS: Think of this as checking the municipal land registry before inspecting a building. It queries TCP port 43 to discover who owns the domain, who the registrar is, when it expires, and which nameservers hold authority. </a:t>
            </a:r>
          </a:p>
          <a:p>
            <a:r>
              <a:t>A key engineering highlight here is our RDAP fallback. Many corporate and cloud firewalls block port 43. Instead of crashing, OmniRecon detects socket timeouts and automatically fails over to ICANN's modern HTTPS-based RDAP protocol on port 443.</a:t>
            </a:r>
          </a:p>
          <a:p>
            <a:endParaRPr/>
          </a:p>
          <a:p>
            <a:r>
              <a:t>Phase 2 is Core DNS Harvesting: Think of this as the master phonebook translating names into physical addresses. We query dnspython resolvers across A, AAAA, MX, TXT, NS, CNAME, and SOA records.</a:t>
            </a:r>
          </a:p>
          <a:p>
            <a:r>
              <a:t>Crucially, TXT records are an absolute goldmine for security engineers: they reveal email security postures like SPF and DMARC, as well as third-party SaaS verification tokens that prove which cloud platforms the target utilizes."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"In Phase 3, we expand the attack surface from a single apex domain to hundreds of potential entry points using a dual-paradigm discovery methodology.</a:t>
            </a:r>
          </a:p>
          <a:p>
            <a:endParaRPr/>
          </a:p>
          <a:p>
            <a:r>
              <a:t>The first paradigm is Passive Certificate Transparency: Under RFC 6962, every SSL certificate issued by CAs like Let's Encrypt or DigiCert must be published to cryptographic, append-only logs. By querying crt.sh, OmniRecon harvests historical and active subdomains with zero network footprint—we do not send a single packet to the target organization.</a:t>
            </a:r>
          </a:p>
          <a:p>
            <a:endParaRPr/>
          </a:p>
          <a:p>
            <a:r>
              <a:t>The second paradigm is Active Brute-Forcing: We take dictionary wordlists and resolve them against DNS at wire speed using our asynchronous `aiodns` engine. </a:t>
            </a:r>
          </a:p>
          <a:p>
            <a:endParaRPr/>
          </a:p>
          <a:p>
            <a:r>
              <a:t>A critical technical feature here is Wildcard DNS Immunity: If an administrator has a wildcard record like `*.company.com` pointing to a parking page, naive scanners report every word in the wordlist as a valid subdomain, creating thousands of false positives. OmniRecon tests pseudo-random domain strings prior to brute-forcing. If wildcard responses are detected, our engine dynamically blacklists those wildcard IP signatures, ensuring only genuine hostnames are reported."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"Finding IP addresses is only half the battle. Security analysts and penetration testers need to know: Is there a live web application running, what is it, and is it vulnerable? This is Phase 4.</a:t>
            </a:r>
          </a:p>
          <a:p>
            <a:endParaRPr/>
          </a:p>
          <a:p>
            <a:r>
              <a:t>First, our HTTP Service Prober concurrently inspects every discovered subdomain across Port 80 and Port 443 using `httpx.AsyncClient`. It is resilient to self-signed or expired SSL certificates so internal development hosts aren't dropped. It captures response status codes, web server headers, and automatically parses the HTML `&lt;title&gt;` tag. This allows an analyst to scan a list of 500 subdomains and immediately spot things like 'Grafana Dashboard', 'Jenkins Login', or 'Internal Admin Portal'.</a:t>
            </a:r>
          </a:p>
          <a:p>
            <a:endParaRPr/>
          </a:p>
          <a:p>
            <a:r>
              <a:t>Second, and most importantly, we built automated Subdomain Takeover detection. When a developer points a CNAME to AWS S3, GitHub Pages, or Heroku, and later deletes the cloud instance without cleaning up DNS, the endpoint is vulnerable.</a:t>
            </a:r>
          </a:p>
          <a:p>
            <a:r>
              <a:t>OmniRecon scans response bodies against a curated signature database: if it sees AWS's 'NoSuchBucket' or Heroku's 'No such app', it immediately flags the asset as vulnerable. This turns passive reconnaissance into proactive vulnerability management."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SCRIPT:</a:t>
            </a:r>
          </a:p>
          <a:p>
            <a:r>
              <a:rPr dirty="0"/>
              <a:t>"Now I want to focus on what I consider the most crucial slide of this presentation: the software engineering architecture behind </a:t>
            </a:r>
            <a:r>
              <a:rPr dirty="0" err="1"/>
              <a:t>OmniRecon</a:t>
            </a:r>
            <a:r>
              <a:rPr dirty="0"/>
              <a:t>. For recruiters and engineers, this is where the toolkit truly shines.</a:t>
            </a:r>
          </a:p>
          <a:p>
            <a:endParaRPr dirty="0"/>
          </a:p>
          <a:p>
            <a:r>
              <a:rPr dirty="0"/>
              <a:t>When building reconnaissance tools, developers often start with standard multi-threading using `</a:t>
            </a:r>
            <a:r>
              <a:rPr dirty="0" err="1"/>
              <a:t>ThreadPoolExecutor</a:t>
            </a:r>
            <a:r>
              <a:rPr dirty="0"/>
              <a:t>`. However, OS threads carry heavy memory overhead—4 to 8 megabytes per thread stack—and incur constant kernel context switching. Scaling to hundreds of threads leads to thread starvation and high latency.</a:t>
            </a:r>
          </a:p>
          <a:p>
            <a:endParaRPr dirty="0"/>
          </a:p>
          <a:p>
            <a:r>
              <a:rPr dirty="0"/>
              <a:t>We solved this by rebuilding </a:t>
            </a:r>
            <a:r>
              <a:rPr dirty="0" err="1"/>
              <a:t>OmniRecon</a:t>
            </a:r>
            <a:r>
              <a:rPr dirty="0"/>
              <a:t> around Python's native `</a:t>
            </a:r>
            <a:r>
              <a:rPr dirty="0" err="1"/>
              <a:t>asyncio</a:t>
            </a:r>
            <a:r>
              <a:rPr dirty="0"/>
              <a:t>` event loop paired with `</a:t>
            </a:r>
            <a:r>
              <a:rPr dirty="0" err="1"/>
              <a:t>aiodns</a:t>
            </a:r>
            <a:r>
              <a:rPr dirty="0"/>
              <a:t>`. `</a:t>
            </a:r>
            <a:r>
              <a:rPr dirty="0" err="1"/>
              <a:t>aiodns</a:t>
            </a:r>
            <a:r>
              <a:rPr dirty="0"/>
              <a:t>` interfaces directly with `c-</a:t>
            </a:r>
            <a:r>
              <a:rPr dirty="0" err="1"/>
              <a:t>ares</a:t>
            </a:r>
            <a:r>
              <a:rPr dirty="0"/>
              <a:t>`, an asynchronous C-based DNS library. This allows thousands of network queries to run non-blocking on a single operating system thread.</a:t>
            </a:r>
          </a:p>
          <a:p>
            <a:endParaRPr dirty="0"/>
          </a:p>
          <a:p>
            <a:r>
              <a:rPr dirty="0"/>
              <a:t>However, high concurrency introduces another classic systems challenge: socket exhaustion. If you fire 10,000 DNS queries simultaneously via an unbounded `</a:t>
            </a:r>
            <a:r>
              <a:rPr dirty="0" err="1"/>
              <a:t>asyncio.gather</a:t>
            </a:r>
            <a:r>
              <a:rPr dirty="0"/>
              <a:t>()`, your OS crashes with `EMFILE`—Too Many Open Files—and DNS servers drop UDP packets.</a:t>
            </a:r>
          </a:p>
          <a:p>
            <a:r>
              <a:rPr dirty="0"/>
              <a:t>We resolved this with `</a:t>
            </a:r>
            <a:r>
              <a:rPr dirty="0" err="1"/>
              <a:t>asyncio.Semaphore</a:t>
            </a:r>
            <a:r>
              <a:rPr dirty="0"/>
              <a:t>`. The semaphore acts as a gatekeeper, dynamically throttling concurrent connections to a controlled threshold while maintaining maximum saturation.</a:t>
            </a:r>
          </a:p>
          <a:p>
            <a:endParaRPr dirty="0"/>
          </a:p>
          <a:p>
            <a:r>
              <a:rPr dirty="0"/>
              <a:t>Finally, the entire codebase follows clean code principles: modular engines decoupled via strongly typed </a:t>
            </a:r>
            <a:r>
              <a:rPr dirty="0" err="1"/>
              <a:t>dataclasses</a:t>
            </a:r>
            <a:r>
              <a:rPr dirty="0"/>
              <a:t> and verified by a 100% mocked offline test suite utilizing `</a:t>
            </a:r>
            <a:r>
              <a:rPr dirty="0" err="1"/>
              <a:t>AsyncMock</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"While OmniRecon is already a robust standalone toolkit, our engineering roadmap includes three high-value extensions:</a:t>
            </a:r>
          </a:p>
          <a:p>
            <a:endParaRPr/>
          </a:p>
          <a:p>
            <a:r>
              <a:t>First, CI/CD and Containerization: We are creating a minimal Docker container and a GitHub Actions workflow. This enables continuous attack surface monitoring—by diffing JSON outputs between scheduled runs, security teams can detect 'attack surface drift' the moment a developer exposes a new staging domain.</a:t>
            </a:r>
          </a:p>
          <a:p>
            <a:endParaRPr/>
          </a:p>
          <a:p>
            <a:r>
              <a:t>Second, DNS Zone Transfer (AXFR) Testing: An authoritative nameserver should never permit unrestricted AXFR requests. We will automate asynchronous AXFR queries against all discovered NS records. If a misconfigured nameserver leaks its entire zone file, OmniRecon will ingest all internal records instantly.</a:t>
            </a:r>
          </a:p>
          <a:p>
            <a:endParaRPr/>
          </a:p>
          <a:p>
            <a:r>
              <a:t>Third, Dynamic Permutation Fuzzing: Instead of relying purely on static wordlists, our permutation engine will identify contextual patterns—like `api-prod`—and automatically generate permutations like `api-staging`, `api-dev`, and `api-test` for targeted discovery.</a:t>
            </a:r>
          </a:p>
          <a:p>
            <a:endParaRPr/>
          </a:p>
          <a:p>
            <a:r>
              <a:t>This roadmap evolves OmniRecon from a manual utility into a continuous DevSecOps reconnaissance daemon."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conclude: OmniRecon demonstrates how core computer networking, offensive cybersecurity reconnaissance, and high-performance software engineering converge.</a:t>
            </a:r>
          </a:p>
          <a:p>
            <a:endParaRPr/>
          </a:p>
          <a:p>
            <a:r>
              <a:t>By replacing blocking thread architectures with an AsyncIO event loop and semaphore throttling, we achieved massive throughput gains while maintaining socket safety and eliminating wildcard false positives. By coupling passive CT logs with automated Subdomain Takeover detection, we transformed raw DNS resolution into actionable security intelligence.</a:t>
            </a:r>
          </a:p>
          <a:p>
            <a:endParaRPr/>
          </a:p>
          <a:p>
            <a:r>
              <a:t>Thank you very much for your time and attention. I am now delighted to open the floor to your questions regarding the architecture, technical trade-offs, or future extensions."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822960"/>
            <a:ext cx="10728655" cy="5212080"/>
          </a:xfrm>
          <a:prstGeom prst="roundRect">
            <a:avLst/>
          </a:prstGeom>
          <a:solidFill>
            <a:srgbClr val="131B2E"/>
          </a:solidFill>
          <a:ln w="1905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97280" y="1188720"/>
            <a:ext cx="3931920" cy="384048"/>
          </a:xfrm>
          <a:prstGeom prst="roundRect">
            <a:avLst/>
          </a:prstGeom>
          <a:solidFill>
            <a:srgbClr val="18264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0E5FF"/>
                </a:solidFill>
                <a:latin typeface="Consolas"/>
              </a:defRPr>
            </a:pPr>
            <a:r>
              <a:rPr dirty="0"/>
              <a:t>EXTERNAL ATTACK SURFACE RECONNAISSANCE</a:t>
            </a:r>
          </a:p>
        </p:txBody>
      </p:sp>
      <p:sp>
        <p:nvSpPr>
          <p:cNvPr id="5" name="TextBox 4"/>
          <p:cNvSpPr txBox="1"/>
          <p:nvPr/>
        </p:nvSpPr>
        <p:spPr>
          <a:xfrm>
            <a:off x="1097280" y="1737360"/>
            <a:ext cx="5303520" cy="2377440"/>
          </a:xfrm>
          <a:prstGeom prst="rect">
            <a:avLst/>
          </a:prstGeom>
          <a:noFill/>
        </p:spPr>
        <p:txBody>
          <a:bodyPr wrap="square" lIns="0" tIns="0" rIns="0" bIns="0">
            <a:spAutoFit/>
          </a:bodyPr>
          <a:lstStyle/>
          <a:p>
            <a:pPr>
              <a:spcAft>
                <a:spcPts val="400"/>
              </a:spcAft>
              <a:defRPr sz="4800" b="1">
                <a:solidFill>
                  <a:srgbClr val="FFFFFF"/>
                </a:solidFill>
                <a:latin typeface="Trebuchet MS"/>
              </a:defRPr>
            </a:pPr>
            <a:r>
              <a:t>OmniRecon</a:t>
            </a:r>
          </a:p>
          <a:p>
            <a:pPr>
              <a:spcAft>
                <a:spcPts val="1000"/>
              </a:spcAft>
              <a:defRPr sz="1700" b="1">
                <a:solidFill>
                  <a:srgbClr val="00E5FF"/>
                </a:solidFill>
                <a:latin typeface="Trebuchet MS"/>
              </a:defRPr>
            </a:pPr>
            <a:r>
              <a:t>High-Performance Asynchronous Asset Discovery &amp; Vulnerability Footprinting</a:t>
            </a:r>
          </a:p>
          <a:p>
            <a:pPr>
              <a:defRPr sz="1300">
                <a:solidFill>
                  <a:srgbClr val="BAC9E0"/>
                </a:solidFill>
                <a:latin typeface="Calibri"/>
              </a:defRPr>
            </a:pPr>
            <a:r>
              <a:t>Bridging Offensive Cybersecurity Reconnaissance with Production-Grade Asynchronous Software Architecture.</a:t>
            </a:r>
          </a:p>
        </p:txBody>
      </p:sp>
      <p:sp>
        <p:nvSpPr>
          <p:cNvPr id="6" name="TextBox 5"/>
          <p:cNvSpPr txBox="1"/>
          <p:nvPr/>
        </p:nvSpPr>
        <p:spPr>
          <a:xfrm>
            <a:off x="1097280" y="4297680"/>
            <a:ext cx="5303520" cy="492443"/>
          </a:xfrm>
          <a:prstGeom prst="rect">
            <a:avLst/>
          </a:prstGeom>
          <a:noFill/>
        </p:spPr>
        <p:txBody>
          <a:bodyPr wrap="square" lIns="0" tIns="0" rIns="0" bIns="0">
            <a:spAutoFit/>
          </a:bodyPr>
          <a:lstStyle/>
          <a:p>
            <a:pPr>
              <a:defRPr sz="1000" b="1">
                <a:solidFill>
                  <a:srgbClr val="768BAD"/>
                </a:solidFill>
                <a:latin typeface="Consolas"/>
              </a:defRPr>
            </a:pPr>
            <a:r>
              <a:rPr dirty="0"/>
              <a:t>DEVELOPED &amp; PRESENTED BY</a:t>
            </a:r>
          </a:p>
          <a:p>
            <a:pPr>
              <a:defRPr sz="2200" b="1">
                <a:solidFill>
                  <a:srgbClr val="FFFFFF"/>
                </a:solidFill>
                <a:latin typeface="Trebuchet MS"/>
              </a:defRPr>
            </a:pPr>
            <a:r>
              <a:rPr dirty="0"/>
              <a:t>Deepakraj S</a:t>
            </a:r>
          </a:p>
        </p:txBody>
      </p:sp>
      <p:sp>
        <p:nvSpPr>
          <p:cNvPr id="7" name="Rounded Rectangle 6"/>
          <p:cNvSpPr/>
          <p:nvPr/>
        </p:nvSpPr>
        <p:spPr>
          <a:xfrm>
            <a:off x="6675120" y="1645920"/>
            <a:ext cx="4389120" cy="114300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1755648"/>
            <a:ext cx="4023360" cy="914400"/>
          </a:xfrm>
          <a:prstGeom prst="rect">
            <a:avLst/>
          </a:prstGeom>
          <a:noFill/>
        </p:spPr>
        <p:txBody>
          <a:bodyPr wrap="square" lIns="0" tIns="0" rIns="0" bIns="0">
            <a:spAutoFit/>
          </a:bodyPr>
          <a:lstStyle/>
          <a:p>
            <a:pPr>
              <a:spcAft>
                <a:spcPts val="200"/>
              </a:spcAft>
              <a:defRPr sz="950" b="1">
                <a:solidFill>
                  <a:srgbClr val="00E5FF"/>
                </a:solidFill>
                <a:latin typeface="Consolas"/>
              </a:defRPr>
            </a:pPr>
            <a:r>
              <a:t>CORE ENGINE ARCHITECTURE</a:t>
            </a:r>
          </a:p>
          <a:p>
            <a:pPr>
              <a:spcAft>
                <a:spcPts val="200"/>
              </a:spcAft>
              <a:defRPr sz="1300" b="1">
                <a:solidFill>
                  <a:srgbClr val="FFFFFF"/>
                </a:solidFill>
                <a:latin typeface="Trebuchet MS"/>
              </a:defRPr>
            </a:pPr>
            <a:r>
              <a:t>AsyncIO + aiodns</a:t>
            </a:r>
          </a:p>
          <a:p>
            <a:pPr>
              <a:defRPr sz="1050">
                <a:solidFill>
                  <a:srgbClr val="BAC9E0"/>
                </a:solidFill>
                <a:latin typeface="Calibri"/>
              </a:defRPr>
            </a:pPr>
            <a:r>
              <a:t>Single-threaded non-blocking C-ares event loop handling thousands of concurrent sockets.</a:t>
            </a:r>
          </a:p>
        </p:txBody>
      </p:sp>
      <p:sp>
        <p:nvSpPr>
          <p:cNvPr id="9" name="Rounded Rectangle 8"/>
          <p:cNvSpPr/>
          <p:nvPr/>
        </p:nvSpPr>
        <p:spPr>
          <a:xfrm>
            <a:off x="6675120" y="2971800"/>
            <a:ext cx="4389120" cy="114300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3081528"/>
            <a:ext cx="4023360" cy="914400"/>
          </a:xfrm>
          <a:prstGeom prst="rect">
            <a:avLst/>
          </a:prstGeom>
          <a:noFill/>
        </p:spPr>
        <p:txBody>
          <a:bodyPr wrap="square" lIns="0" tIns="0" rIns="0" bIns="0">
            <a:spAutoFit/>
          </a:bodyPr>
          <a:lstStyle/>
          <a:p>
            <a:pPr>
              <a:spcAft>
                <a:spcPts val="200"/>
              </a:spcAft>
              <a:defRPr sz="950" b="1">
                <a:solidFill>
                  <a:srgbClr val="448AFF"/>
                </a:solidFill>
                <a:latin typeface="Consolas"/>
              </a:defRPr>
            </a:pPr>
            <a:r>
              <a:t>DUAL-PARADIGM DISCOVERY</a:t>
            </a:r>
          </a:p>
          <a:p>
            <a:pPr>
              <a:spcAft>
                <a:spcPts val="200"/>
              </a:spcAft>
              <a:defRPr sz="1300" b="1">
                <a:solidFill>
                  <a:srgbClr val="FFFFFF"/>
                </a:solidFill>
                <a:latin typeface="Trebuchet MS"/>
              </a:defRPr>
            </a:pPr>
            <a:r>
              <a:t>Passive CT + Active Fuzzing</a:t>
            </a:r>
          </a:p>
          <a:p>
            <a:pPr>
              <a:defRPr sz="1050">
                <a:solidFill>
                  <a:srgbClr val="BAC9E0"/>
                </a:solidFill>
                <a:latin typeface="Calibri"/>
              </a:defRPr>
            </a:pPr>
            <a:r>
              <a:t>Zero-footprint Certificate Transparency paired with wildcard-immune DNS brute forcing.</a:t>
            </a:r>
          </a:p>
        </p:txBody>
      </p:sp>
      <p:sp>
        <p:nvSpPr>
          <p:cNvPr id="11" name="Rounded Rectangle 10"/>
          <p:cNvSpPr/>
          <p:nvPr/>
        </p:nvSpPr>
        <p:spPr>
          <a:xfrm>
            <a:off x="6675120" y="4297680"/>
            <a:ext cx="4389120" cy="114300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0" y="4407408"/>
            <a:ext cx="4023360" cy="914400"/>
          </a:xfrm>
          <a:prstGeom prst="rect">
            <a:avLst/>
          </a:prstGeom>
          <a:noFill/>
        </p:spPr>
        <p:txBody>
          <a:bodyPr wrap="square" lIns="0" tIns="0" rIns="0" bIns="0">
            <a:spAutoFit/>
          </a:bodyPr>
          <a:lstStyle/>
          <a:p>
            <a:pPr>
              <a:spcAft>
                <a:spcPts val="200"/>
              </a:spcAft>
              <a:defRPr sz="950" b="1">
                <a:solidFill>
                  <a:srgbClr val="FF4081"/>
                </a:solidFill>
                <a:latin typeface="Consolas"/>
              </a:defRPr>
            </a:pPr>
            <a:r>
              <a:t>VULNERABILITY IDENTIFICATION</a:t>
            </a:r>
          </a:p>
          <a:p>
            <a:pPr>
              <a:spcAft>
                <a:spcPts val="200"/>
              </a:spcAft>
              <a:defRPr sz="1300" b="1">
                <a:solidFill>
                  <a:srgbClr val="FFFFFF"/>
                </a:solidFill>
                <a:latin typeface="Trebuchet MS"/>
              </a:defRPr>
            </a:pPr>
            <a:r>
              <a:t>Subdomain Takeover Prober</a:t>
            </a:r>
          </a:p>
          <a:p>
            <a:pPr>
              <a:defRPr sz="1050">
                <a:solidFill>
                  <a:srgbClr val="BAC9E0"/>
                </a:solidFill>
                <a:latin typeface="Calibri"/>
              </a:defRPr>
            </a:pPr>
            <a:r>
              <a:t>Automated HTTP/HTTPS status harvesting with dangling cloud bucket fingerprinting.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t>// 01. THE CYBERSECURITY PROBLEM</a:t>
            </a:r>
          </a:p>
          <a:p>
            <a:pPr>
              <a:spcAft>
                <a:spcPts val="200"/>
              </a:spcAft>
              <a:defRPr sz="2400" b="1">
                <a:solidFill>
                  <a:srgbClr val="FFFFFF"/>
                </a:solidFill>
                <a:latin typeface="Trebuchet MS"/>
              </a:defRPr>
            </a:pPr>
            <a:r>
              <a:t>The Core Problem: External Asset Sprawl &amp; Blind Spots</a:t>
            </a:r>
          </a:p>
          <a:p>
            <a:pPr>
              <a:defRPr sz="1200">
                <a:solidFill>
                  <a:srgbClr val="BAC9E0"/>
                </a:solidFill>
                <a:latin typeface="Calibri"/>
              </a:defRPr>
            </a:pPr>
            <a:r>
              <a:t>Organizations cannot defend infrastructure they have forgotten exists.</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7315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19201" y="1944921"/>
            <a:ext cx="4754880" cy="415498"/>
          </a:xfrm>
          <a:prstGeom prst="rect">
            <a:avLst/>
          </a:prstGeom>
          <a:noFill/>
        </p:spPr>
        <p:txBody>
          <a:bodyPr wrap="square" lIns="0" tIns="0" rIns="0" bIns="0">
            <a:spAutoFit/>
          </a:bodyPr>
          <a:lstStyle/>
          <a:p>
            <a:pPr>
              <a:defRPr sz="1100" b="1">
                <a:solidFill>
                  <a:srgbClr val="FFB300"/>
                </a:solidFill>
                <a:latin typeface="Consolas"/>
              </a:defRPr>
            </a:pPr>
            <a:r>
              <a:rPr dirty="0"/>
              <a:t>[THE CAUSE] </a:t>
            </a:r>
            <a:endParaRPr lang="en-IN" dirty="0"/>
          </a:p>
          <a:p>
            <a:pPr>
              <a:defRPr sz="1100" b="1">
                <a:solidFill>
                  <a:srgbClr val="FFB300"/>
                </a:solidFill>
                <a:latin typeface="Consolas"/>
              </a:defRPr>
            </a:pPr>
            <a:r>
              <a:rPr sz="1600" b="1" dirty="0">
                <a:solidFill>
                  <a:srgbClr val="FFFFFF"/>
                </a:solidFill>
                <a:latin typeface="Trebuchet MS"/>
              </a:rPr>
              <a:t>Why Companies Lose Track</a:t>
            </a:r>
          </a:p>
        </p:txBody>
      </p:sp>
      <p:sp>
        <p:nvSpPr>
          <p:cNvPr id="8" name="TextBox 7"/>
          <p:cNvSpPr txBox="1"/>
          <p:nvPr/>
        </p:nvSpPr>
        <p:spPr>
          <a:xfrm>
            <a:off x="960120" y="2514600"/>
            <a:ext cx="4754880" cy="2971799"/>
          </a:xfrm>
          <a:prstGeom prst="rect">
            <a:avLst/>
          </a:prstGeom>
          <a:noFill/>
        </p:spPr>
        <p:txBody>
          <a:bodyPr wrap="square" lIns="0" tIns="0" rIns="0" bIns="0">
            <a:spAutoFit/>
          </a:bodyPr>
          <a:lstStyle/>
          <a:p>
            <a:pPr>
              <a:spcAft>
                <a:spcPts val="1000"/>
              </a:spcAft>
            </a:pPr>
            <a:r>
              <a:rPr sz="1200" b="1" dirty="0">
                <a:solidFill>
                  <a:srgbClr val="FFB300"/>
                </a:solidFill>
                <a:latin typeface="Consolas"/>
              </a:rPr>
              <a:t>▸ </a:t>
            </a:r>
            <a:r>
              <a:rPr sz="1200" b="1" dirty="0">
                <a:solidFill>
                  <a:srgbClr val="FFFFFF"/>
                </a:solidFill>
                <a:latin typeface="Trebuchet MS"/>
              </a:rPr>
              <a:t>Cloud &amp; Microservice Sprawl: </a:t>
            </a:r>
            <a:r>
              <a:rPr sz="1200" dirty="0">
                <a:solidFill>
                  <a:srgbClr val="BAC9E0"/>
                </a:solidFill>
                <a:latin typeface="Calibri"/>
              </a:rPr>
              <a:t>Ephemeral AWS, Azure, and GCP resources spun up without centralized DNS governance.</a:t>
            </a:r>
          </a:p>
          <a:p>
            <a:pPr>
              <a:spcAft>
                <a:spcPts val="1000"/>
              </a:spcAft>
            </a:pPr>
            <a:r>
              <a:rPr sz="1200" b="1" dirty="0">
                <a:solidFill>
                  <a:srgbClr val="FFB300"/>
                </a:solidFill>
                <a:latin typeface="Consolas"/>
              </a:rPr>
              <a:t>▸ </a:t>
            </a:r>
            <a:r>
              <a:rPr sz="1200" b="1" dirty="0">
                <a:solidFill>
                  <a:srgbClr val="FFFFFF"/>
                </a:solidFill>
                <a:latin typeface="Trebuchet MS"/>
              </a:rPr>
              <a:t>Shadow IT &amp; Staging Leaks: </a:t>
            </a:r>
            <a:r>
              <a:rPr sz="1200" dirty="0">
                <a:solidFill>
                  <a:srgbClr val="BAC9E0"/>
                </a:solidFill>
                <a:latin typeface="Calibri"/>
              </a:rPr>
              <a:t>Dev teams create temporary testing subdomains (`dev-auth`, `staging-</a:t>
            </a:r>
            <a:r>
              <a:rPr sz="1200" dirty="0" err="1">
                <a:solidFill>
                  <a:srgbClr val="BAC9E0"/>
                </a:solidFill>
                <a:latin typeface="Calibri"/>
              </a:rPr>
              <a:t>api</a:t>
            </a:r>
            <a:r>
              <a:rPr sz="1200" dirty="0">
                <a:solidFill>
                  <a:srgbClr val="BAC9E0"/>
                </a:solidFill>
                <a:latin typeface="Calibri"/>
              </a:rPr>
              <a:t>`) that remain live indefinitely.</a:t>
            </a:r>
          </a:p>
          <a:p>
            <a:pPr>
              <a:spcAft>
                <a:spcPts val="1000"/>
              </a:spcAft>
            </a:pPr>
            <a:r>
              <a:rPr sz="1200" b="1" dirty="0">
                <a:solidFill>
                  <a:srgbClr val="FFB300"/>
                </a:solidFill>
                <a:latin typeface="Consolas"/>
              </a:rPr>
              <a:t>▸ </a:t>
            </a:r>
            <a:r>
              <a:rPr sz="1200" b="1" dirty="0">
                <a:solidFill>
                  <a:srgbClr val="FFFFFF"/>
                </a:solidFill>
                <a:latin typeface="Trebuchet MS"/>
              </a:rPr>
              <a:t>M&amp;A Infrastructure Blind Spots: </a:t>
            </a:r>
            <a:r>
              <a:rPr sz="1200" dirty="0">
                <a:solidFill>
                  <a:srgbClr val="BAC9E0"/>
                </a:solidFill>
                <a:latin typeface="Calibri"/>
              </a:rPr>
              <a:t>Acquisitions inherit legacy registrar accounts, unmonitored DNS zones, and untracked endpoints.</a:t>
            </a:r>
          </a:p>
          <a:p>
            <a:pPr>
              <a:spcAft>
                <a:spcPts val="1000"/>
              </a:spcAft>
            </a:pPr>
            <a:r>
              <a:rPr sz="1200" b="1" dirty="0">
                <a:solidFill>
                  <a:srgbClr val="FFB300"/>
                </a:solidFill>
                <a:latin typeface="Consolas"/>
              </a:rPr>
              <a:t>▸ </a:t>
            </a:r>
            <a:r>
              <a:rPr sz="1200" b="1" dirty="0">
                <a:solidFill>
                  <a:srgbClr val="FFFFFF"/>
                </a:solidFill>
                <a:latin typeface="Trebuchet MS"/>
              </a:rPr>
              <a:t>Outdated Static Inventory: </a:t>
            </a:r>
            <a:r>
              <a:rPr sz="1200" dirty="0">
                <a:solidFill>
                  <a:srgbClr val="BAC9E0"/>
                </a:solidFill>
                <a:latin typeface="Calibri"/>
              </a:rPr>
              <a:t>Manual asset tracking in spreadsheets goes stale within 24 hours in fast CI/CD environments.</a:t>
            </a:r>
          </a:p>
        </p:txBody>
      </p:sp>
      <p:sp>
        <p:nvSpPr>
          <p:cNvPr id="9" name="Rounded Rectangle 8"/>
          <p:cNvSpPr/>
          <p:nvPr/>
        </p:nvSpPr>
        <p:spPr>
          <a:xfrm>
            <a:off x="62179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949778"/>
            <a:ext cx="4754880" cy="415498"/>
          </a:xfrm>
          <a:prstGeom prst="rect">
            <a:avLst/>
          </a:prstGeom>
          <a:noFill/>
        </p:spPr>
        <p:txBody>
          <a:bodyPr wrap="square" lIns="0" tIns="0" rIns="0" bIns="0">
            <a:spAutoFit/>
          </a:bodyPr>
          <a:lstStyle/>
          <a:p>
            <a:pPr>
              <a:defRPr sz="1100" b="1">
                <a:solidFill>
                  <a:srgbClr val="FF4081"/>
                </a:solidFill>
                <a:latin typeface="Consolas"/>
              </a:defRPr>
            </a:pPr>
            <a:r>
              <a:rPr dirty="0"/>
              <a:t>[THE EXPLOITATION] </a:t>
            </a:r>
            <a:endParaRPr lang="en-IN" dirty="0"/>
          </a:p>
          <a:p>
            <a:pPr>
              <a:defRPr sz="1100" b="1">
                <a:solidFill>
                  <a:srgbClr val="FF4081"/>
                </a:solidFill>
                <a:latin typeface="Consolas"/>
              </a:defRPr>
            </a:pPr>
            <a:r>
              <a:rPr sz="1600" b="1" dirty="0">
                <a:solidFill>
                  <a:srgbClr val="FFFFFF"/>
                </a:solidFill>
                <a:latin typeface="Trebuchet MS"/>
              </a:rPr>
              <a:t>The Technical Threat</a:t>
            </a:r>
          </a:p>
        </p:txBody>
      </p:sp>
      <p:sp>
        <p:nvSpPr>
          <p:cNvPr id="11" name="TextBox 10"/>
          <p:cNvSpPr txBox="1"/>
          <p:nvPr/>
        </p:nvSpPr>
        <p:spPr>
          <a:xfrm>
            <a:off x="6446520" y="2514600"/>
            <a:ext cx="4754880" cy="2971799"/>
          </a:xfrm>
          <a:prstGeom prst="rect">
            <a:avLst/>
          </a:prstGeom>
          <a:noFill/>
        </p:spPr>
        <p:txBody>
          <a:bodyPr wrap="square" lIns="0" tIns="0" rIns="0" bIns="0">
            <a:spAutoFit/>
          </a:bodyPr>
          <a:lstStyle/>
          <a:p>
            <a:pPr>
              <a:spcAft>
                <a:spcPts val="1000"/>
              </a:spcAft>
            </a:pPr>
            <a:r>
              <a:rPr sz="1200" b="1" dirty="0">
                <a:solidFill>
                  <a:srgbClr val="FF4081"/>
                </a:solidFill>
                <a:latin typeface="Consolas"/>
              </a:rPr>
              <a:t>▸ </a:t>
            </a:r>
            <a:r>
              <a:rPr sz="1200" b="1" dirty="0">
                <a:solidFill>
                  <a:srgbClr val="FFFFFF"/>
                </a:solidFill>
                <a:latin typeface="Trebuchet MS"/>
              </a:rPr>
              <a:t>Dangling DNS Pointers: </a:t>
            </a:r>
            <a:r>
              <a:rPr sz="1200" dirty="0">
                <a:solidFill>
                  <a:srgbClr val="BAC9E0"/>
                </a:solidFill>
                <a:latin typeface="Calibri"/>
              </a:rPr>
              <a:t>CNAME records pointing to deleted cloud buckets or decommissioned third-party services.</a:t>
            </a:r>
          </a:p>
          <a:p>
            <a:pPr>
              <a:spcAft>
                <a:spcPts val="1000"/>
              </a:spcAft>
            </a:pPr>
            <a:r>
              <a:rPr sz="1200" b="1" dirty="0">
                <a:solidFill>
                  <a:srgbClr val="FF4081"/>
                </a:solidFill>
                <a:latin typeface="Consolas"/>
              </a:rPr>
              <a:t>▸ </a:t>
            </a:r>
            <a:r>
              <a:rPr sz="1200" b="1" dirty="0">
                <a:solidFill>
                  <a:srgbClr val="FFFFFF"/>
                </a:solidFill>
                <a:latin typeface="Trebuchet MS"/>
              </a:rPr>
              <a:t>Subdomain Takeover: </a:t>
            </a:r>
            <a:r>
              <a:rPr sz="1200" dirty="0">
                <a:solidFill>
                  <a:srgbClr val="BAC9E0"/>
                </a:solidFill>
                <a:latin typeface="Calibri"/>
              </a:rPr>
              <a:t>Adversaries re-register the abandoned cloud resource and serve authenticated phishing on the victim's apex domain.</a:t>
            </a:r>
          </a:p>
          <a:p>
            <a:pPr>
              <a:spcAft>
                <a:spcPts val="1000"/>
              </a:spcAft>
            </a:pPr>
            <a:r>
              <a:rPr sz="1200" b="1" dirty="0">
                <a:solidFill>
                  <a:srgbClr val="FF4081"/>
                </a:solidFill>
                <a:latin typeface="Consolas"/>
              </a:rPr>
              <a:t>▸ </a:t>
            </a:r>
            <a:r>
              <a:rPr sz="1200" b="1" dirty="0">
                <a:solidFill>
                  <a:srgbClr val="FFFFFF"/>
                </a:solidFill>
                <a:latin typeface="Trebuchet MS"/>
              </a:rPr>
              <a:t>Unpatched Legacy Services: </a:t>
            </a:r>
            <a:r>
              <a:rPr sz="1200" dirty="0">
                <a:solidFill>
                  <a:srgbClr val="BAC9E0"/>
                </a:solidFill>
                <a:latin typeface="Calibri"/>
              </a:rPr>
              <a:t>Forgotten hosts run outdated software stacks outside enterprise WAF and vulnerability scanner coverage.</a:t>
            </a:r>
          </a:p>
          <a:p>
            <a:pPr>
              <a:spcAft>
                <a:spcPts val="1000"/>
              </a:spcAft>
            </a:pPr>
            <a:r>
              <a:rPr sz="1200" b="1" dirty="0">
                <a:solidFill>
                  <a:srgbClr val="FF4081"/>
                </a:solidFill>
                <a:latin typeface="Consolas"/>
              </a:rPr>
              <a:t>▸ </a:t>
            </a:r>
            <a:r>
              <a:rPr sz="1200" b="1" dirty="0">
                <a:solidFill>
                  <a:srgbClr val="FFFFFF"/>
                </a:solidFill>
                <a:latin typeface="Trebuchet MS"/>
              </a:rPr>
              <a:t>Credential Leaks via TXT: </a:t>
            </a:r>
            <a:r>
              <a:rPr sz="1200" dirty="0">
                <a:solidFill>
                  <a:srgbClr val="BAC9E0"/>
                </a:solidFill>
                <a:latin typeface="Calibri"/>
              </a:rPr>
              <a:t>Stray DNS TXT records expose API verification tokens, internal services, and deprecated mail routes.</a:t>
            </a:r>
          </a:p>
        </p:txBody>
      </p:sp>
      <p:sp>
        <p:nvSpPr>
          <p:cNvPr id="12" name="Rounded Rectangle 11"/>
          <p:cNvSpPr/>
          <p:nvPr/>
        </p:nvSpPr>
        <p:spPr>
          <a:xfrm>
            <a:off x="731520" y="5532120"/>
            <a:ext cx="10698480" cy="77724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715000"/>
            <a:ext cx="10241280" cy="411480"/>
          </a:xfrm>
          <a:prstGeom prst="rect">
            <a:avLst/>
          </a:prstGeom>
          <a:noFill/>
        </p:spPr>
        <p:txBody>
          <a:bodyPr wrap="square" lIns="0" tIns="0" rIns="0" bIns="0">
            <a:spAutoFit/>
          </a:bodyPr>
          <a:lstStyle/>
          <a:p>
            <a:pPr>
              <a:spcAft>
                <a:spcPts val="1000"/>
              </a:spcAft>
            </a:pPr>
            <a:r>
              <a:rPr sz="1200" b="1">
                <a:solidFill>
                  <a:srgbClr val="00E5FF"/>
                </a:solidFill>
                <a:latin typeface="Consolas"/>
              </a:rPr>
              <a:t>⚠️ </a:t>
            </a:r>
            <a:r>
              <a:rPr sz="1200" b="1">
                <a:solidFill>
                  <a:srgbClr val="FFFFFF"/>
                </a:solidFill>
                <a:latin typeface="Trebuchet MS"/>
              </a:rPr>
              <a:t>THE STRATEGIC REALITY: </a:t>
            </a:r>
            <a:r>
              <a:rPr sz="1200">
                <a:solidFill>
                  <a:srgbClr val="BAC9E0"/>
                </a:solidFill>
                <a:latin typeface="Calibri"/>
              </a:rPr>
              <a:t>Adversaries don't break through hardened enterprise firewalls—they discover the forgotten, unpatched subdomain created three years ago by an intern. Defense begins with automated reconnaissance.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t>// 02. SYSTEM OVERVIEW</a:t>
            </a:r>
          </a:p>
          <a:p>
            <a:pPr>
              <a:spcAft>
                <a:spcPts val="200"/>
              </a:spcAft>
              <a:defRPr sz="2400" b="1">
                <a:solidFill>
                  <a:srgbClr val="FFFFFF"/>
                </a:solidFill>
                <a:latin typeface="Trebuchet MS"/>
              </a:defRPr>
            </a:pPr>
            <a:r>
              <a:t>Project Overview: What is OmniRecon?</a:t>
            </a:r>
          </a:p>
          <a:p>
            <a:pPr>
              <a:defRPr sz="1200">
                <a:solidFill>
                  <a:srgbClr val="BAC9E0"/>
                </a:solidFill>
                <a:latin typeface="Calibri"/>
              </a:defRPr>
            </a:pPr>
            <a:r>
              <a:t>A unified, modular Python reconnaissance engine designed for full external attack surface footprinting.</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7867475" y="1645920"/>
            <a:ext cx="3383280" cy="3931920"/>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95453" y="1870502"/>
            <a:ext cx="2926080" cy="415498"/>
          </a:xfrm>
          <a:prstGeom prst="rect">
            <a:avLst/>
          </a:prstGeom>
          <a:noFill/>
        </p:spPr>
        <p:txBody>
          <a:bodyPr wrap="square" lIns="0" tIns="0" rIns="0" bIns="0">
            <a:spAutoFit/>
          </a:bodyPr>
          <a:lstStyle/>
          <a:p>
            <a:pPr>
              <a:defRPr sz="1100" b="1">
                <a:solidFill>
                  <a:srgbClr val="00E5FF"/>
                </a:solidFill>
                <a:latin typeface="Consolas"/>
              </a:defRPr>
            </a:pPr>
            <a:r>
              <a:rPr dirty="0"/>
              <a:t>[PIPELINE] </a:t>
            </a:r>
            <a:endParaRPr lang="en-IN" dirty="0"/>
          </a:p>
          <a:p>
            <a:pPr>
              <a:defRPr sz="1100" b="1">
                <a:solidFill>
                  <a:srgbClr val="00E5FF"/>
                </a:solidFill>
                <a:latin typeface="Consolas"/>
              </a:defRPr>
            </a:pPr>
            <a:r>
              <a:rPr sz="1600" b="1" dirty="0">
                <a:solidFill>
                  <a:srgbClr val="FFFFFF"/>
                </a:solidFill>
                <a:latin typeface="Trebuchet MS"/>
              </a:rPr>
              <a:t>Unified Recon Pipeline</a:t>
            </a:r>
          </a:p>
        </p:txBody>
      </p:sp>
      <p:sp>
        <p:nvSpPr>
          <p:cNvPr id="8" name="TextBox 7"/>
          <p:cNvSpPr txBox="1"/>
          <p:nvPr/>
        </p:nvSpPr>
        <p:spPr>
          <a:xfrm>
            <a:off x="8275320" y="2514600"/>
            <a:ext cx="2926080" cy="3154680"/>
          </a:xfrm>
          <a:prstGeom prst="rect">
            <a:avLst/>
          </a:prstGeom>
          <a:noFill/>
        </p:spPr>
        <p:txBody>
          <a:bodyPr wrap="square" lIns="0" tIns="0" rIns="0" bIns="0">
            <a:spAutoFit/>
          </a:bodyPr>
          <a:lstStyle/>
          <a:p>
            <a:pPr>
              <a:spcAft>
                <a:spcPts val="1000"/>
              </a:spcAft>
            </a:pPr>
            <a:r>
              <a:rPr sz="1200" b="1" dirty="0">
                <a:solidFill>
                  <a:srgbClr val="00E5FF"/>
                </a:solidFill>
                <a:latin typeface="Consolas"/>
              </a:rPr>
              <a:t>▸ </a:t>
            </a:r>
            <a:r>
              <a:rPr sz="1200" b="1" dirty="0">
                <a:solidFill>
                  <a:srgbClr val="FFFFFF"/>
                </a:solidFill>
                <a:latin typeface="Trebuchet MS"/>
              </a:rPr>
              <a:t>End-to-End Surface Mapping: </a:t>
            </a:r>
            <a:r>
              <a:rPr sz="1200" dirty="0">
                <a:solidFill>
                  <a:srgbClr val="BAC9E0"/>
                </a:solidFill>
                <a:latin typeface="Calibri"/>
              </a:rPr>
              <a:t>Automates the entire reconnaissance lifecycle: from WHOIS ownership to active HTTP probing.</a:t>
            </a:r>
          </a:p>
          <a:p>
            <a:pPr>
              <a:spcAft>
                <a:spcPts val="1000"/>
              </a:spcAft>
            </a:pPr>
            <a:r>
              <a:rPr sz="1200" b="1" dirty="0">
                <a:solidFill>
                  <a:srgbClr val="00E5FF"/>
                </a:solidFill>
                <a:latin typeface="Consolas"/>
              </a:rPr>
              <a:t>▸ </a:t>
            </a:r>
            <a:r>
              <a:rPr sz="1200" b="1" dirty="0">
                <a:solidFill>
                  <a:srgbClr val="FFFFFF"/>
                </a:solidFill>
                <a:latin typeface="Trebuchet MS"/>
              </a:rPr>
              <a:t>Decoupled Architecture: </a:t>
            </a:r>
            <a:r>
              <a:rPr sz="1200" dirty="0">
                <a:solidFill>
                  <a:srgbClr val="BAC9E0"/>
                </a:solidFill>
                <a:latin typeface="Calibri"/>
              </a:rPr>
              <a:t>Independent execution engines: WHOIS, DNS Resolver, Subdomain Enumerator, and Web Prober.</a:t>
            </a:r>
          </a:p>
          <a:p>
            <a:pPr>
              <a:spcAft>
                <a:spcPts val="1000"/>
              </a:spcAft>
            </a:pPr>
            <a:r>
              <a:rPr sz="1200" b="1" dirty="0">
                <a:solidFill>
                  <a:srgbClr val="00E5FF"/>
                </a:solidFill>
                <a:latin typeface="Consolas"/>
              </a:rPr>
              <a:t>▸ </a:t>
            </a:r>
            <a:r>
              <a:rPr sz="1200" b="1" dirty="0">
                <a:solidFill>
                  <a:srgbClr val="FFFFFF"/>
                </a:solidFill>
                <a:latin typeface="Trebuchet MS"/>
              </a:rPr>
              <a:t>Clean Extensibility: </a:t>
            </a:r>
            <a:r>
              <a:rPr sz="1200" dirty="0">
                <a:solidFill>
                  <a:srgbClr val="BAC9E0"/>
                </a:solidFill>
                <a:latin typeface="Calibri"/>
              </a:rPr>
              <a:t>Standardized Python </a:t>
            </a:r>
            <a:r>
              <a:rPr sz="1200" dirty="0" err="1">
                <a:solidFill>
                  <a:srgbClr val="BAC9E0"/>
                </a:solidFill>
                <a:latin typeface="Calibri"/>
              </a:rPr>
              <a:t>dataclass</a:t>
            </a:r>
            <a:r>
              <a:rPr sz="1200" dirty="0">
                <a:solidFill>
                  <a:srgbClr val="BAC9E0"/>
                </a:solidFill>
                <a:latin typeface="Calibri"/>
              </a:rPr>
              <a:t> contracts allow easy integration of custom scanners or security feeds.</a:t>
            </a:r>
          </a:p>
        </p:txBody>
      </p:sp>
      <p:sp>
        <p:nvSpPr>
          <p:cNvPr id="9" name="Rounded Rectangle 8"/>
          <p:cNvSpPr/>
          <p:nvPr/>
        </p:nvSpPr>
        <p:spPr>
          <a:xfrm>
            <a:off x="502919" y="1623060"/>
            <a:ext cx="3383280" cy="3931920"/>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817752" y="1858636"/>
            <a:ext cx="2926080" cy="415498"/>
          </a:xfrm>
          <a:prstGeom prst="rect">
            <a:avLst/>
          </a:prstGeom>
          <a:noFill/>
        </p:spPr>
        <p:txBody>
          <a:bodyPr wrap="square" lIns="0" tIns="0" rIns="0" bIns="0">
            <a:spAutoFit/>
          </a:bodyPr>
          <a:lstStyle/>
          <a:p>
            <a:pPr>
              <a:defRPr sz="1100" b="1">
                <a:solidFill>
                  <a:srgbClr val="00E676"/>
                </a:solidFill>
                <a:latin typeface="Consolas"/>
              </a:defRPr>
            </a:pPr>
            <a:r>
              <a:rPr dirty="0"/>
              <a:t>[HIGH PERFORMANCE] </a:t>
            </a:r>
            <a:endParaRPr lang="en-IN" dirty="0"/>
          </a:p>
          <a:p>
            <a:pPr>
              <a:defRPr sz="1100" b="1">
                <a:solidFill>
                  <a:srgbClr val="00E676"/>
                </a:solidFill>
                <a:latin typeface="Consolas"/>
              </a:defRPr>
            </a:pPr>
            <a:r>
              <a:rPr sz="1600" b="1" dirty="0" err="1">
                <a:solidFill>
                  <a:srgbClr val="FFFFFF"/>
                </a:solidFill>
                <a:latin typeface="Trebuchet MS"/>
              </a:rPr>
              <a:t>AsyncIO</a:t>
            </a:r>
            <a:r>
              <a:rPr sz="1600" b="1" dirty="0">
                <a:solidFill>
                  <a:srgbClr val="FFFFFF"/>
                </a:solidFill>
                <a:latin typeface="Trebuchet MS"/>
              </a:rPr>
              <a:t> Architecture</a:t>
            </a:r>
          </a:p>
        </p:txBody>
      </p:sp>
      <p:sp>
        <p:nvSpPr>
          <p:cNvPr id="11" name="TextBox 10"/>
          <p:cNvSpPr txBox="1"/>
          <p:nvPr/>
        </p:nvSpPr>
        <p:spPr>
          <a:xfrm>
            <a:off x="817752" y="2552891"/>
            <a:ext cx="2926080" cy="3154680"/>
          </a:xfrm>
          <a:prstGeom prst="rect">
            <a:avLst/>
          </a:prstGeom>
          <a:noFill/>
        </p:spPr>
        <p:txBody>
          <a:bodyPr wrap="square" lIns="0" tIns="0" rIns="0" bIns="0">
            <a:spAutoFit/>
          </a:bodyPr>
          <a:lstStyle/>
          <a:p>
            <a:pPr>
              <a:spcAft>
                <a:spcPts val="1000"/>
              </a:spcAft>
            </a:pPr>
            <a:r>
              <a:rPr sz="1200" b="1" dirty="0">
                <a:solidFill>
                  <a:srgbClr val="00E676"/>
                </a:solidFill>
                <a:latin typeface="Consolas"/>
              </a:rPr>
              <a:t>▸ </a:t>
            </a:r>
            <a:r>
              <a:rPr sz="1200" b="1" dirty="0">
                <a:solidFill>
                  <a:srgbClr val="FFFFFF"/>
                </a:solidFill>
                <a:latin typeface="Trebuchet MS"/>
              </a:rPr>
              <a:t>Native </a:t>
            </a:r>
            <a:r>
              <a:rPr sz="1200" b="1" dirty="0" err="1">
                <a:solidFill>
                  <a:srgbClr val="FFFFFF"/>
                </a:solidFill>
                <a:latin typeface="Trebuchet MS"/>
              </a:rPr>
              <a:t>AsyncIO</a:t>
            </a:r>
            <a:r>
              <a:rPr sz="1200" b="1" dirty="0">
                <a:solidFill>
                  <a:srgbClr val="FFFFFF"/>
                </a:solidFill>
                <a:latin typeface="Trebuchet MS"/>
              </a:rPr>
              <a:t> &amp; </a:t>
            </a:r>
            <a:r>
              <a:rPr sz="1200" b="1" dirty="0" err="1">
                <a:solidFill>
                  <a:srgbClr val="FFFFFF"/>
                </a:solidFill>
                <a:latin typeface="Trebuchet MS"/>
              </a:rPr>
              <a:t>aiodns</a:t>
            </a:r>
            <a:r>
              <a:rPr sz="1200" b="1" dirty="0">
                <a:solidFill>
                  <a:srgbClr val="FFFFFF"/>
                </a:solidFill>
                <a:latin typeface="Trebuchet MS"/>
              </a:rPr>
              <a:t>: </a:t>
            </a:r>
            <a:r>
              <a:rPr sz="1200" dirty="0">
                <a:solidFill>
                  <a:srgbClr val="BAC9E0"/>
                </a:solidFill>
                <a:latin typeface="Calibri"/>
              </a:rPr>
              <a:t>Replaces blocking thread pools with non-blocking C-</a:t>
            </a:r>
            <a:r>
              <a:rPr sz="1200" dirty="0" err="1">
                <a:solidFill>
                  <a:srgbClr val="BAC9E0"/>
                </a:solidFill>
                <a:latin typeface="Calibri"/>
              </a:rPr>
              <a:t>ares</a:t>
            </a:r>
            <a:r>
              <a:rPr sz="1200" dirty="0">
                <a:solidFill>
                  <a:srgbClr val="BAC9E0"/>
                </a:solidFill>
                <a:latin typeface="Calibri"/>
              </a:rPr>
              <a:t> DNS queries for order-of-magnitude speedups.</a:t>
            </a:r>
          </a:p>
          <a:p>
            <a:pPr>
              <a:spcAft>
                <a:spcPts val="1000"/>
              </a:spcAft>
            </a:pPr>
            <a:r>
              <a:rPr sz="1200" b="1" dirty="0">
                <a:solidFill>
                  <a:srgbClr val="00E676"/>
                </a:solidFill>
                <a:latin typeface="Consolas"/>
              </a:rPr>
              <a:t>▸ </a:t>
            </a:r>
            <a:r>
              <a:rPr sz="1200" b="1" dirty="0">
                <a:solidFill>
                  <a:srgbClr val="FFFFFF"/>
                </a:solidFill>
                <a:latin typeface="Trebuchet MS"/>
              </a:rPr>
              <a:t>Connection Throttling: </a:t>
            </a:r>
            <a:r>
              <a:rPr sz="1200" dirty="0">
                <a:solidFill>
                  <a:srgbClr val="BAC9E0"/>
                </a:solidFill>
                <a:latin typeface="Calibri"/>
              </a:rPr>
              <a:t>Bounded concurrency via `</a:t>
            </a:r>
            <a:r>
              <a:rPr sz="1200" dirty="0" err="1">
                <a:solidFill>
                  <a:srgbClr val="BAC9E0"/>
                </a:solidFill>
                <a:latin typeface="Calibri"/>
              </a:rPr>
              <a:t>asyncio.Semaphore</a:t>
            </a:r>
            <a:r>
              <a:rPr sz="1200" dirty="0">
                <a:solidFill>
                  <a:srgbClr val="BAC9E0"/>
                </a:solidFill>
                <a:latin typeface="Calibri"/>
              </a:rPr>
              <a:t>` prevents OS file descriptor exhaustion (`EMFILE`).</a:t>
            </a:r>
          </a:p>
          <a:p>
            <a:pPr>
              <a:spcAft>
                <a:spcPts val="1000"/>
              </a:spcAft>
            </a:pPr>
            <a:r>
              <a:rPr sz="1200" b="1" dirty="0">
                <a:solidFill>
                  <a:srgbClr val="00E676"/>
                </a:solidFill>
                <a:latin typeface="Consolas"/>
              </a:rPr>
              <a:t>▸ </a:t>
            </a:r>
            <a:r>
              <a:rPr sz="1200" b="1" dirty="0">
                <a:solidFill>
                  <a:srgbClr val="FFFFFF"/>
                </a:solidFill>
                <a:latin typeface="Trebuchet MS"/>
              </a:rPr>
              <a:t>Wildcard DNS Immunity: </a:t>
            </a:r>
            <a:r>
              <a:rPr sz="1200" dirty="0">
                <a:solidFill>
                  <a:srgbClr val="BAC9E0"/>
                </a:solidFill>
                <a:latin typeface="Calibri"/>
              </a:rPr>
              <a:t>Pre-flight heuristic probing filters out wildcard DNS responses to eliminate false positive noise.</a:t>
            </a:r>
          </a:p>
        </p:txBody>
      </p:sp>
      <p:sp>
        <p:nvSpPr>
          <p:cNvPr id="12" name="Rounded Rectangle 11"/>
          <p:cNvSpPr/>
          <p:nvPr/>
        </p:nvSpPr>
        <p:spPr>
          <a:xfrm>
            <a:off x="4185197" y="1645920"/>
            <a:ext cx="3383280" cy="3931920"/>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4517052" y="1870502"/>
            <a:ext cx="2926080" cy="415498"/>
          </a:xfrm>
          <a:prstGeom prst="rect">
            <a:avLst/>
          </a:prstGeom>
          <a:noFill/>
        </p:spPr>
        <p:txBody>
          <a:bodyPr wrap="square" lIns="0" tIns="0" rIns="0" bIns="0">
            <a:spAutoFit/>
          </a:bodyPr>
          <a:lstStyle/>
          <a:p>
            <a:pPr>
              <a:defRPr sz="1100" b="1">
                <a:solidFill>
                  <a:srgbClr val="FF4081"/>
                </a:solidFill>
                <a:latin typeface="Consolas"/>
              </a:defRPr>
            </a:pPr>
            <a:r>
              <a:rPr dirty="0"/>
              <a:t>[EXPLOIT INSIGHT] </a:t>
            </a:r>
            <a:endParaRPr lang="en-IN" dirty="0"/>
          </a:p>
          <a:p>
            <a:pPr>
              <a:defRPr sz="1100" b="1">
                <a:solidFill>
                  <a:srgbClr val="FF4081"/>
                </a:solidFill>
                <a:latin typeface="Consolas"/>
              </a:defRPr>
            </a:pPr>
            <a:r>
              <a:rPr sz="1600" b="1" dirty="0">
                <a:solidFill>
                  <a:srgbClr val="FFFFFF"/>
                </a:solidFill>
                <a:latin typeface="Trebuchet MS"/>
              </a:rPr>
              <a:t>Actionable Intelligence</a:t>
            </a:r>
          </a:p>
        </p:txBody>
      </p:sp>
      <p:sp>
        <p:nvSpPr>
          <p:cNvPr id="14" name="TextBox 13"/>
          <p:cNvSpPr txBox="1"/>
          <p:nvPr/>
        </p:nvSpPr>
        <p:spPr>
          <a:xfrm>
            <a:off x="4505727" y="2548890"/>
            <a:ext cx="2926080" cy="3154680"/>
          </a:xfrm>
          <a:prstGeom prst="rect">
            <a:avLst/>
          </a:prstGeom>
          <a:noFill/>
        </p:spPr>
        <p:txBody>
          <a:bodyPr wrap="square" lIns="0" tIns="0" rIns="0" bIns="0">
            <a:spAutoFit/>
          </a:bodyPr>
          <a:lstStyle/>
          <a:p>
            <a:pPr>
              <a:spcAft>
                <a:spcPts val="1000"/>
              </a:spcAft>
            </a:pPr>
            <a:r>
              <a:rPr sz="1200" b="1" dirty="0">
                <a:solidFill>
                  <a:srgbClr val="FF4081"/>
                </a:solidFill>
                <a:latin typeface="Consolas"/>
              </a:rPr>
              <a:t>▸ </a:t>
            </a:r>
            <a:r>
              <a:rPr sz="1200" b="1" dirty="0">
                <a:solidFill>
                  <a:srgbClr val="FFFFFF"/>
                </a:solidFill>
                <a:latin typeface="Trebuchet MS"/>
              </a:rPr>
              <a:t>Automated Takeover Detection: </a:t>
            </a:r>
            <a:r>
              <a:rPr sz="1200" dirty="0">
                <a:solidFill>
                  <a:srgbClr val="BAC9E0"/>
                </a:solidFill>
                <a:latin typeface="Calibri"/>
              </a:rPr>
              <a:t>Fingerprints dangling cloud providers (AWS S3, GitHub, Heroku, Azure) directly from HTTP bodies.</a:t>
            </a:r>
          </a:p>
          <a:p>
            <a:pPr>
              <a:spcAft>
                <a:spcPts val="1000"/>
              </a:spcAft>
            </a:pPr>
            <a:r>
              <a:rPr sz="1200" b="1" dirty="0">
                <a:solidFill>
                  <a:srgbClr val="FF4081"/>
                </a:solidFill>
                <a:latin typeface="Consolas"/>
              </a:rPr>
              <a:t>▸ </a:t>
            </a:r>
            <a:r>
              <a:rPr sz="1200" b="1" dirty="0">
                <a:solidFill>
                  <a:srgbClr val="FFFFFF"/>
                </a:solidFill>
                <a:latin typeface="Trebuchet MS"/>
              </a:rPr>
              <a:t>Dual-Port Service Probing: </a:t>
            </a:r>
            <a:r>
              <a:rPr sz="1200" dirty="0">
                <a:solidFill>
                  <a:srgbClr val="BAC9E0"/>
                </a:solidFill>
                <a:latin typeface="Calibri"/>
              </a:rPr>
              <a:t>Concurrently inspects ports 80 &amp; 443 with TLS fallback and automated HTML title harvesting.</a:t>
            </a:r>
          </a:p>
          <a:p>
            <a:pPr>
              <a:spcAft>
                <a:spcPts val="1000"/>
              </a:spcAft>
            </a:pPr>
            <a:r>
              <a:rPr sz="1200" b="1" dirty="0">
                <a:solidFill>
                  <a:srgbClr val="FF4081"/>
                </a:solidFill>
                <a:latin typeface="Consolas"/>
              </a:rPr>
              <a:t>▸ </a:t>
            </a:r>
            <a:r>
              <a:rPr sz="1200" b="1" dirty="0">
                <a:solidFill>
                  <a:srgbClr val="FFFFFF"/>
                </a:solidFill>
                <a:latin typeface="Trebuchet MS"/>
              </a:rPr>
              <a:t>Enterprise Serialization: </a:t>
            </a:r>
            <a:r>
              <a:rPr sz="1200" dirty="0">
                <a:solidFill>
                  <a:srgbClr val="BAC9E0"/>
                </a:solidFill>
                <a:latin typeface="Calibri"/>
              </a:rPr>
              <a:t>Outputs structured reports in terminal ANSI, machine-readable JSON, and spreadsheet CSV.</a:t>
            </a:r>
          </a:p>
        </p:txBody>
      </p:sp>
      <p:sp>
        <p:nvSpPr>
          <p:cNvPr id="15" name="Rounded Rectangle 14"/>
          <p:cNvSpPr/>
          <p:nvPr/>
        </p:nvSpPr>
        <p:spPr>
          <a:xfrm>
            <a:off x="731520" y="5715000"/>
            <a:ext cx="10698480" cy="621792"/>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5897880"/>
            <a:ext cx="10241280" cy="256032"/>
          </a:xfrm>
          <a:prstGeom prst="rect">
            <a:avLst/>
          </a:prstGeom>
          <a:noFill/>
        </p:spPr>
        <p:txBody>
          <a:bodyPr wrap="square" lIns="0" tIns="0" rIns="0" bIns="0">
            <a:spAutoFit/>
          </a:bodyPr>
          <a:lstStyle/>
          <a:p>
            <a:pPr>
              <a:spcAft>
                <a:spcPts val="1000"/>
              </a:spcAft>
            </a:pPr>
            <a:r>
              <a:rPr sz="1200" b="1">
                <a:solidFill>
                  <a:srgbClr val="448AFF"/>
                </a:solidFill>
                <a:latin typeface="Consolas"/>
              </a:rPr>
              <a:t>⚡ </a:t>
            </a:r>
            <a:r>
              <a:rPr sz="1200" b="1">
                <a:solidFill>
                  <a:srgbClr val="FFFFFF"/>
                </a:solidFill>
                <a:latin typeface="Trebuchet MS"/>
              </a:rPr>
              <a:t>EXECUTION WORKFLOW: </a:t>
            </a:r>
            <a:r>
              <a:rPr sz="1200">
                <a:solidFill>
                  <a:srgbClr val="BAC9E0"/>
                </a:solidFill>
                <a:latin typeface="Calibri"/>
              </a:rPr>
              <a:t>[1. WHOIS/RDAP]  ──&gt;  [2. Core DNS Harvesting]  ──&gt;  [3. Passive CT &amp; Active Brute-Force]  ──&gt;  [4. HTTP Service &amp; Takeover Probing]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t>// 03. RECONNAISSANCE FOUNDATION</a:t>
            </a:r>
          </a:p>
          <a:p>
            <a:pPr>
              <a:spcAft>
                <a:spcPts val="200"/>
              </a:spcAft>
              <a:defRPr sz="2400" b="1">
                <a:solidFill>
                  <a:srgbClr val="FFFFFF"/>
                </a:solidFill>
                <a:latin typeface="Trebuchet MS"/>
              </a:defRPr>
            </a:pPr>
            <a:r>
              <a:t>Phase 1 &amp; 2: Domain Ownership &amp; DNS Infrastructure</a:t>
            </a:r>
          </a:p>
          <a:p>
            <a:pPr>
              <a:defRPr sz="1200">
                <a:solidFill>
                  <a:srgbClr val="BAC9E0"/>
                </a:solidFill>
                <a:latin typeface="Calibri"/>
              </a:defRPr>
            </a:pPr>
            <a:r>
              <a:t>Establishing legal boundaries, name server authorities, and mail/verification vectors.</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7315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828800"/>
            <a:ext cx="4754880" cy="502920"/>
          </a:xfrm>
          <a:prstGeom prst="rect">
            <a:avLst/>
          </a:prstGeom>
          <a:noFill/>
        </p:spPr>
        <p:txBody>
          <a:bodyPr wrap="square" lIns="0" tIns="0" rIns="0" bIns="0">
            <a:spAutoFit/>
          </a:bodyPr>
          <a:lstStyle/>
          <a:p>
            <a:pPr>
              <a:defRPr sz="1100" b="1">
                <a:solidFill>
                  <a:srgbClr val="00E5FF"/>
                </a:solidFill>
                <a:latin typeface="Consolas"/>
              </a:defRPr>
            </a:pPr>
            <a:r>
              <a:t>[THE PROPERTY REGISTRY] </a:t>
            </a:r>
            <a:r>
              <a:rPr sz="1600" b="1">
                <a:solidFill>
                  <a:srgbClr val="FFFFFF"/>
                </a:solidFill>
                <a:latin typeface="Trebuchet MS"/>
              </a:rPr>
              <a:t>Phase 1: WHOIS / RDAP Engine</a:t>
            </a:r>
          </a:p>
        </p:txBody>
      </p:sp>
      <p:sp>
        <p:nvSpPr>
          <p:cNvPr id="8" name="TextBox 7"/>
          <p:cNvSpPr txBox="1"/>
          <p:nvPr/>
        </p:nvSpPr>
        <p:spPr>
          <a:xfrm>
            <a:off x="960120" y="2286000"/>
            <a:ext cx="4754880" cy="2971799"/>
          </a:xfrm>
          <a:prstGeom prst="rect">
            <a:avLst/>
          </a:prstGeom>
          <a:noFill/>
        </p:spPr>
        <p:txBody>
          <a:bodyPr wrap="square" lIns="0" tIns="0" rIns="0" bIns="0">
            <a:spAutoFit/>
          </a:bodyPr>
          <a:lstStyle/>
          <a:p>
            <a:pPr>
              <a:spcAft>
                <a:spcPts val="1000"/>
              </a:spcAft>
            </a:pPr>
            <a:r>
              <a:rPr sz="1200" b="1">
                <a:solidFill>
                  <a:srgbClr val="00E5FF"/>
                </a:solidFill>
                <a:latin typeface="Consolas"/>
              </a:rPr>
              <a:t>▸ </a:t>
            </a:r>
            <a:r>
              <a:rPr sz="1200" b="1">
                <a:solidFill>
                  <a:srgbClr val="FFFFFF"/>
                </a:solidFill>
                <a:latin typeface="Trebuchet MS"/>
              </a:rPr>
              <a:t>Analogous to Real-Estate Deed: </a:t>
            </a:r>
            <a:r>
              <a:rPr sz="1200">
                <a:solidFill>
                  <a:srgbClr val="BAC9E0"/>
                </a:solidFill>
                <a:latin typeface="Calibri"/>
              </a:rPr>
              <a:t>Identifies who legally owns the target domain, registrar identity, and registration lifespan.</a:t>
            </a:r>
          </a:p>
          <a:p>
            <a:pPr>
              <a:spcAft>
                <a:spcPts val="1000"/>
              </a:spcAft>
            </a:pPr>
            <a:r>
              <a:rPr sz="1200" b="1">
                <a:solidFill>
                  <a:srgbClr val="00E5FF"/>
                </a:solidFill>
                <a:latin typeface="Consolas"/>
              </a:rPr>
              <a:t>▸ </a:t>
            </a:r>
            <a:r>
              <a:rPr sz="1200" b="1">
                <a:solidFill>
                  <a:srgbClr val="FFFFFF"/>
                </a:solidFill>
                <a:latin typeface="Trebuchet MS"/>
              </a:rPr>
              <a:t>Primary TCP Port 43 Query: </a:t>
            </a:r>
            <a:r>
              <a:rPr sz="1200">
                <a:solidFill>
                  <a:srgbClr val="BAC9E0"/>
                </a:solidFill>
                <a:latin typeface="Calibri"/>
              </a:rPr>
              <a:t>Direct plaintext socket queries to registrar WHOIS servers for low-latency registry extraction.</a:t>
            </a:r>
          </a:p>
          <a:p>
            <a:pPr>
              <a:spcAft>
                <a:spcPts val="1000"/>
              </a:spcAft>
            </a:pPr>
            <a:r>
              <a:rPr sz="1200" b="1">
                <a:solidFill>
                  <a:srgbClr val="00E5FF"/>
                </a:solidFill>
                <a:latin typeface="Consolas"/>
              </a:rPr>
              <a:t>▸ </a:t>
            </a:r>
            <a:r>
              <a:rPr sz="1200" b="1">
                <a:solidFill>
                  <a:srgbClr val="FFFFFF"/>
                </a:solidFill>
                <a:latin typeface="Trebuchet MS"/>
              </a:rPr>
              <a:t>Automated HTTPS RDAP Fallback: </a:t>
            </a:r>
            <a:r>
              <a:rPr sz="1200">
                <a:solidFill>
                  <a:srgbClr val="BAC9E0"/>
                </a:solidFill>
                <a:latin typeface="Calibri"/>
              </a:rPr>
              <a:t>If Port 43 is firewalled or blocked, automatically fails over to RESTful RDAP over HTTPS Port 443.</a:t>
            </a:r>
          </a:p>
          <a:p>
            <a:pPr>
              <a:spcAft>
                <a:spcPts val="1000"/>
              </a:spcAft>
            </a:pPr>
            <a:r>
              <a:rPr sz="1200" b="1">
                <a:solidFill>
                  <a:srgbClr val="00E5FF"/>
                </a:solidFill>
                <a:latin typeface="Consolas"/>
              </a:rPr>
              <a:t>▸ </a:t>
            </a:r>
            <a:r>
              <a:rPr sz="1200" b="1">
                <a:solidFill>
                  <a:srgbClr val="FFFFFF"/>
                </a:solidFill>
                <a:latin typeface="Trebuchet MS"/>
              </a:rPr>
              <a:t>Key Metadata Extracted: </a:t>
            </a:r>
            <a:r>
              <a:rPr sz="1200">
                <a:solidFill>
                  <a:srgbClr val="BAC9E0"/>
                </a:solidFill>
                <a:latin typeface="Calibri"/>
              </a:rPr>
              <a:t>Registrar Name &amp; IANA ID, Creation/Expiration dates, Authoritative Nameservers, and EPP Status codes.</a:t>
            </a:r>
          </a:p>
        </p:txBody>
      </p:sp>
      <p:sp>
        <p:nvSpPr>
          <p:cNvPr id="9" name="Rounded Rectangle 8"/>
          <p:cNvSpPr/>
          <p:nvPr/>
        </p:nvSpPr>
        <p:spPr>
          <a:xfrm>
            <a:off x="62179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28800"/>
            <a:ext cx="4754880" cy="502920"/>
          </a:xfrm>
          <a:prstGeom prst="rect">
            <a:avLst/>
          </a:prstGeom>
          <a:noFill/>
        </p:spPr>
        <p:txBody>
          <a:bodyPr wrap="square" lIns="0" tIns="0" rIns="0" bIns="0">
            <a:spAutoFit/>
          </a:bodyPr>
          <a:lstStyle/>
          <a:p>
            <a:pPr>
              <a:defRPr sz="1100" b="1">
                <a:solidFill>
                  <a:srgbClr val="00E676"/>
                </a:solidFill>
                <a:latin typeface="Consolas"/>
              </a:defRPr>
            </a:pPr>
            <a:r>
              <a:t>[THE MASTER PHONEBOOK] </a:t>
            </a:r>
            <a:r>
              <a:rPr sz="1600" b="1">
                <a:solidFill>
                  <a:srgbClr val="FFFFFF"/>
                </a:solidFill>
                <a:latin typeface="Trebuchet MS"/>
              </a:rPr>
              <a:t>Phase 2: Core DNS Harvester</a:t>
            </a:r>
          </a:p>
        </p:txBody>
      </p:sp>
      <p:sp>
        <p:nvSpPr>
          <p:cNvPr id="11" name="TextBox 10"/>
          <p:cNvSpPr txBox="1"/>
          <p:nvPr/>
        </p:nvSpPr>
        <p:spPr>
          <a:xfrm>
            <a:off x="6446520" y="2286000"/>
            <a:ext cx="4754880" cy="2971799"/>
          </a:xfrm>
          <a:prstGeom prst="rect">
            <a:avLst/>
          </a:prstGeom>
          <a:noFill/>
        </p:spPr>
        <p:txBody>
          <a:bodyPr wrap="square" lIns="0" tIns="0" rIns="0" bIns="0">
            <a:spAutoFit/>
          </a:bodyPr>
          <a:lstStyle/>
          <a:p>
            <a:pPr>
              <a:spcAft>
                <a:spcPts val="1000"/>
              </a:spcAft>
            </a:pPr>
            <a:r>
              <a:rPr sz="1200" b="1">
                <a:solidFill>
                  <a:srgbClr val="00E676"/>
                </a:solidFill>
                <a:latin typeface="Consolas"/>
              </a:rPr>
              <a:t>▸ </a:t>
            </a:r>
            <a:r>
              <a:rPr sz="1200" b="1">
                <a:solidFill>
                  <a:srgbClr val="FFFFFF"/>
                </a:solidFill>
                <a:latin typeface="Trebuchet MS"/>
              </a:rPr>
              <a:t>Translating Names to Infrastructure: </a:t>
            </a:r>
            <a:r>
              <a:rPr sz="1200">
                <a:solidFill>
                  <a:srgbClr val="BAC9E0"/>
                </a:solidFill>
                <a:latin typeface="Calibri"/>
              </a:rPr>
              <a:t>Queries authoritative records that direct Internet routing and enterprise communication.</a:t>
            </a:r>
          </a:p>
          <a:p>
            <a:pPr>
              <a:spcAft>
                <a:spcPts val="1000"/>
              </a:spcAft>
            </a:pPr>
            <a:r>
              <a:rPr sz="1200" b="1">
                <a:solidFill>
                  <a:srgbClr val="00E676"/>
                </a:solidFill>
                <a:latin typeface="Consolas"/>
              </a:rPr>
              <a:t>▸ </a:t>
            </a:r>
            <a:r>
              <a:rPr sz="1200" b="1">
                <a:solidFill>
                  <a:srgbClr val="FFFFFF"/>
                </a:solidFill>
                <a:latin typeface="Trebuchet MS"/>
              </a:rPr>
              <a:t>A &amp; AAAA Records: </a:t>
            </a:r>
            <a:r>
              <a:rPr sz="1200">
                <a:solidFill>
                  <a:srgbClr val="BAC9E0"/>
                </a:solidFill>
                <a:latin typeface="Calibri"/>
              </a:rPr>
              <a:t>Maps hostnames to IPv4 and IPv6 endpoints, uncovering origin server infrastructure.</a:t>
            </a:r>
          </a:p>
          <a:p>
            <a:pPr>
              <a:spcAft>
                <a:spcPts val="1000"/>
              </a:spcAft>
            </a:pPr>
            <a:r>
              <a:rPr sz="1200" b="1">
                <a:solidFill>
                  <a:srgbClr val="00E676"/>
                </a:solidFill>
                <a:latin typeface="Consolas"/>
              </a:rPr>
              <a:t>▸ </a:t>
            </a:r>
            <a:r>
              <a:rPr sz="1200" b="1">
                <a:solidFill>
                  <a:srgbClr val="FFFFFF"/>
                </a:solidFill>
                <a:latin typeface="Trebuchet MS"/>
              </a:rPr>
              <a:t>MX &amp; NS Records: </a:t>
            </a:r>
            <a:r>
              <a:rPr sz="1200">
                <a:solidFill>
                  <a:srgbClr val="BAC9E0"/>
                </a:solidFill>
                <a:latin typeface="Calibri"/>
              </a:rPr>
              <a:t>Identifies primary email gateways (mail routing) and authoritative DNS cluster providers.</a:t>
            </a:r>
          </a:p>
          <a:p>
            <a:pPr>
              <a:spcAft>
                <a:spcPts val="1000"/>
              </a:spcAft>
            </a:pPr>
            <a:r>
              <a:rPr sz="1200" b="1">
                <a:solidFill>
                  <a:srgbClr val="00E676"/>
                </a:solidFill>
                <a:latin typeface="Consolas"/>
              </a:rPr>
              <a:t>▸ </a:t>
            </a:r>
            <a:r>
              <a:rPr sz="1200" b="1">
                <a:solidFill>
                  <a:srgbClr val="FFFFFF"/>
                </a:solidFill>
                <a:latin typeface="Trebuchet MS"/>
              </a:rPr>
              <a:t>TXT Security Records: </a:t>
            </a:r>
            <a:r>
              <a:rPr sz="1200">
                <a:solidFill>
                  <a:srgbClr val="BAC9E0"/>
                </a:solidFill>
                <a:latin typeface="Calibri"/>
              </a:rPr>
              <a:t>Harvests SPF (`v=spf1`), DMARC (`v=DMARC1`), and third-party SaaS verification tokens (Google, M365).</a:t>
            </a:r>
          </a:p>
          <a:p>
            <a:pPr>
              <a:spcAft>
                <a:spcPts val="1000"/>
              </a:spcAft>
            </a:pPr>
            <a:r>
              <a:rPr sz="1200" b="1">
                <a:solidFill>
                  <a:srgbClr val="00E676"/>
                </a:solidFill>
                <a:latin typeface="Consolas"/>
              </a:rPr>
              <a:t>▸ </a:t>
            </a:r>
            <a:r>
              <a:rPr sz="1200" b="1">
                <a:solidFill>
                  <a:srgbClr val="FFFFFF"/>
                </a:solidFill>
                <a:latin typeface="Trebuchet MS"/>
              </a:rPr>
              <a:t>SOA Records: </a:t>
            </a:r>
            <a:r>
              <a:rPr sz="1200">
                <a:solidFill>
                  <a:srgbClr val="BAC9E0"/>
                </a:solidFill>
                <a:latin typeface="Calibri"/>
              </a:rPr>
              <a:t>Analyzes Start of Authority serial numbers and zone administrator contact points.</a:t>
            </a:r>
          </a:p>
        </p:txBody>
      </p:sp>
      <p:sp>
        <p:nvSpPr>
          <p:cNvPr id="12" name="Rounded Rectangle 11"/>
          <p:cNvSpPr/>
          <p:nvPr/>
        </p:nvSpPr>
        <p:spPr>
          <a:xfrm>
            <a:off x="731520" y="5532120"/>
            <a:ext cx="10698480" cy="77724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715000"/>
            <a:ext cx="10241280" cy="411480"/>
          </a:xfrm>
          <a:prstGeom prst="rect">
            <a:avLst/>
          </a:prstGeom>
          <a:noFill/>
        </p:spPr>
        <p:txBody>
          <a:bodyPr wrap="square" lIns="0" tIns="0" rIns="0" bIns="0">
            <a:spAutoFit/>
          </a:bodyPr>
          <a:lstStyle/>
          <a:p>
            <a:pPr>
              <a:spcAft>
                <a:spcPts val="1000"/>
              </a:spcAft>
            </a:pPr>
            <a:r>
              <a:rPr sz="1200" b="1">
                <a:solidFill>
                  <a:srgbClr val="448AFF"/>
                </a:solidFill>
                <a:latin typeface="Consolas"/>
              </a:rPr>
              <a:t>🛡️ </a:t>
            </a:r>
            <a:r>
              <a:rPr sz="1200" b="1">
                <a:solidFill>
                  <a:srgbClr val="FFFFFF"/>
                </a:solidFill>
                <a:latin typeface="Trebuchet MS"/>
              </a:rPr>
              <a:t>RESILIENT NETWORKING DESIGN: </a:t>
            </a:r>
            <a:r>
              <a:rPr sz="1200">
                <a:solidFill>
                  <a:srgbClr val="BAC9E0"/>
                </a:solidFill>
                <a:latin typeface="Calibri"/>
              </a:rPr>
              <a:t>Enterprise firewalls frequently block outbound TCP 43. OmniRecon implements intelligent fault tolerance: native WHOIS attempts timeout within 3s, triggering an immediate non-blocking fallback to ICANN's RESTful RDAP over HTTPS (Port 443).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t>// 04. ATTACK SURFACE MAPPING</a:t>
            </a:r>
          </a:p>
          <a:p>
            <a:pPr>
              <a:spcAft>
                <a:spcPts val="200"/>
              </a:spcAft>
              <a:defRPr sz="2400" b="1">
                <a:solidFill>
                  <a:srgbClr val="FFFFFF"/>
                </a:solidFill>
                <a:latin typeface="Trebuchet MS"/>
              </a:defRPr>
            </a:pPr>
            <a:r>
              <a:t>Phase 3: Subdomain Discovery (Dual-Paradigm)</a:t>
            </a:r>
          </a:p>
          <a:p>
            <a:pPr>
              <a:defRPr sz="1200">
                <a:solidFill>
                  <a:srgbClr val="BAC9E0"/>
                </a:solidFill>
                <a:latin typeface="Calibri"/>
              </a:defRPr>
            </a:pPr>
            <a:r>
              <a:t>Combining zero-footprint cryptographic audit logs with high-concurrency active resolution.</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7315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828800"/>
            <a:ext cx="4754880" cy="502920"/>
          </a:xfrm>
          <a:prstGeom prst="rect">
            <a:avLst/>
          </a:prstGeom>
          <a:noFill/>
        </p:spPr>
        <p:txBody>
          <a:bodyPr wrap="square" lIns="0" tIns="0" rIns="0" bIns="0">
            <a:spAutoFit/>
          </a:bodyPr>
          <a:lstStyle/>
          <a:p>
            <a:pPr>
              <a:defRPr sz="1100" b="1">
                <a:solidFill>
                  <a:srgbClr val="00E5FF"/>
                </a:solidFill>
                <a:latin typeface="Consolas"/>
              </a:defRPr>
            </a:pPr>
            <a:r>
              <a:t>[ZERO NETWORK FOOTPRINT] </a:t>
            </a:r>
            <a:r>
              <a:rPr sz="1600" b="1">
                <a:solidFill>
                  <a:srgbClr val="FFFFFF"/>
                </a:solidFill>
                <a:latin typeface="Trebuchet MS"/>
              </a:rPr>
              <a:t>Passive: Certificate Transparency</a:t>
            </a:r>
          </a:p>
        </p:txBody>
      </p:sp>
      <p:sp>
        <p:nvSpPr>
          <p:cNvPr id="8" name="TextBox 7"/>
          <p:cNvSpPr txBox="1"/>
          <p:nvPr/>
        </p:nvSpPr>
        <p:spPr>
          <a:xfrm>
            <a:off x="960120" y="2487547"/>
            <a:ext cx="4754880" cy="2971799"/>
          </a:xfrm>
          <a:prstGeom prst="rect">
            <a:avLst/>
          </a:prstGeom>
          <a:noFill/>
        </p:spPr>
        <p:txBody>
          <a:bodyPr wrap="square" lIns="0" tIns="0" rIns="0" bIns="0">
            <a:spAutoFit/>
          </a:bodyPr>
          <a:lstStyle/>
          <a:p>
            <a:pPr>
              <a:spcAft>
                <a:spcPts val="1000"/>
              </a:spcAft>
            </a:pPr>
            <a:r>
              <a:rPr sz="1200" b="1" dirty="0">
                <a:solidFill>
                  <a:srgbClr val="00E5FF"/>
                </a:solidFill>
                <a:latin typeface="Consolas"/>
              </a:rPr>
              <a:t>▸ </a:t>
            </a:r>
            <a:r>
              <a:rPr sz="1200" b="1" dirty="0">
                <a:solidFill>
                  <a:srgbClr val="FFFFFF"/>
                </a:solidFill>
                <a:latin typeface="Trebuchet MS"/>
              </a:rPr>
              <a:t>RFC 6962 Public Audit Logs: </a:t>
            </a:r>
            <a:r>
              <a:rPr sz="1200" dirty="0">
                <a:solidFill>
                  <a:srgbClr val="BAC9E0"/>
                </a:solidFill>
                <a:latin typeface="Calibri"/>
              </a:rPr>
              <a:t>Monitors public, append-only cryptographic logs published by Certificate Authorities (CAs).</a:t>
            </a:r>
          </a:p>
          <a:p>
            <a:pPr>
              <a:spcAft>
                <a:spcPts val="1000"/>
              </a:spcAft>
            </a:pPr>
            <a:r>
              <a:rPr sz="1200" b="1" dirty="0">
                <a:solidFill>
                  <a:srgbClr val="00E5FF"/>
                </a:solidFill>
                <a:latin typeface="Consolas"/>
              </a:rPr>
              <a:t>▸ </a:t>
            </a:r>
            <a:r>
              <a:rPr sz="1200" b="1" dirty="0">
                <a:solidFill>
                  <a:srgbClr val="FFFFFF"/>
                </a:solidFill>
                <a:latin typeface="Trebuchet MS"/>
              </a:rPr>
              <a:t>Target Undetectable: </a:t>
            </a:r>
            <a:r>
              <a:rPr sz="1200" dirty="0">
                <a:solidFill>
                  <a:srgbClr val="BAC9E0"/>
                </a:solidFill>
                <a:latin typeface="Calibri"/>
              </a:rPr>
              <a:t>Queries third-party aggregators (`crt.sh`) without transmitting a single IP packet to the target network.</a:t>
            </a:r>
          </a:p>
          <a:p>
            <a:pPr>
              <a:spcAft>
                <a:spcPts val="1000"/>
              </a:spcAft>
            </a:pPr>
            <a:r>
              <a:rPr sz="1200" b="1" dirty="0">
                <a:solidFill>
                  <a:srgbClr val="00E5FF"/>
                </a:solidFill>
                <a:latin typeface="Consolas"/>
              </a:rPr>
              <a:t>▸ </a:t>
            </a:r>
            <a:r>
              <a:rPr sz="1200" b="1" dirty="0">
                <a:solidFill>
                  <a:srgbClr val="FFFFFF"/>
                </a:solidFill>
                <a:latin typeface="Trebuchet MS"/>
              </a:rPr>
              <a:t>Historical Asset Discovery: </a:t>
            </a:r>
            <a:r>
              <a:rPr sz="1200" dirty="0">
                <a:solidFill>
                  <a:srgbClr val="BAC9E0"/>
                </a:solidFill>
                <a:latin typeface="Calibri"/>
              </a:rPr>
              <a:t>Reveals ephemeral, unlinked, or decommissioned subdomains that were ever issued an SSL/TLS certificate.</a:t>
            </a:r>
          </a:p>
          <a:p>
            <a:pPr>
              <a:spcAft>
                <a:spcPts val="1000"/>
              </a:spcAft>
            </a:pPr>
            <a:r>
              <a:rPr sz="1200" b="1" dirty="0">
                <a:solidFill>
                  <a:srgbClr val="00E5FF"/>
                </a:solidFill>
                <a:latin typeface="Consolas"/>
              </a:rPr>
              <a:t>▸ </a:t>
            </a:r>
            <a:r>
              <a:rPr sz="1200" b="1" dirty="0">
                <a:solidFill>
                  <a:srgbClr val="FFFFFF"/>
                </a:solidFill>
                <a:latin typeface="Trebuchet MS"/>
              </a:rPr>
              <a:t>Instant Seed Generation: </a:t>
            </a:r>
            <a:r>
              <a:rPr sz="1200" dirty="0">
                <a:solidFill>
                  <a:srgbClr val="BAC9E0"/>
                </a:solidFill>
                <a:latin typeface="Calibri"/>
              </a:rPr>
              <a:t>Yields hundreds of validated seed hostnames within milliseconds to prime active scanners.</a:t>
            </a:r>
          </a:p>
        </p:txBody>
      </p:sp>
      <p:sp>
        <p:nvSpPr>
          <p:cNvPr id="9" name="Rounded Rectangle 8"/>
          <p:cNvSpPr/>
          <p:nvPr/>
        </p:nvSpPr>
        <p:spPr>
          <a:xfrm>
            <a:off x="62179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28800"/>
            <a:ext cx="4754880" cy="502920"/>
          </a:xfrm>
          <a:prstGeom prst="rect">
            <a:avLst/>
          </a:prstGeom>
          <a:noFill/>
        </p:spPr>
        <p:txBody>
          <a:bodyPr wrap="square" lIns="0" tIns="0" rIns="0" bIns="0">
            <a:spAutoFit/>
          </a:bodyPr>
          <a:lstStyle/>
          <a:p>
            <a:pPr>
              <a:defRPr sz="1100" b="1">
                <a:solidFill>
                  <a:srgbClr val="00E676"/>
                </a:solidFill>
                <a:latin typeface="Consolas"/>
              </a:defRPr>
            </a:pPr>
            <a:r>
              <a:t>[HIGH-THROUGHPUT C-ARES] </a:t>
            </a:r>
            <a:r>
              <a:rPr sz="1600" b="1">
                <a:solidFill>
                  <a:srgbClr val="FFFFFF"/>
                </a:solidFill>
                <a:latin typeface="Trebuchet MS"/>
              </a:rPr>
              <a:t>Active: AsyncIO Wordlist Engine</a:t>
            </a:r>
          </a:p>
        </p:txBody>
      </p:sp>
      <p:sp>
        <p:nvSpPr>
          <p:cNvPr id="11" name="TextBox 10"/>
          <p:cNvSpPr txBox="1"/>
          <p:nvPr/>
        </p:nvSpPr>
        <p:spPr>
          <a:xfrm>
            <a:off x="6446520" y="2482200"/>
            <a:ext cx="4754880" cy="2971799"/>
          </a:xfrm>
          <a:prstGeom prst="rect">
            <a:avLst/>
          </a:prstGeom>
          <a:noFill/>
        </p:spPr>
        <p:txBody>
          <a:bodyPr wrap="square" lIns="0" tIns="0" rIns="0" bIns="0">
            <a:spAutoFit/>
          </a:bodyPr>
          <a:lstStyle/>
          <a:p>
            <a:pPr>
              <a:spcAft>
                <a:spcPts val="1000"/>
              </a:spcAft>
            </a:pPr>
            <a:r>
              <a:rPr sz="1200" b="1" dirty="0">
                <a:solidFill>
                  <a:srgbClr val="00E676"/>
                </a:solidFill>
                <a:latin typeface="Consolas"/>
              </a:rPr>
              <a:t>▸ </a:t>
            </a:r>
            <a:r>
              <a:rPr sz="1200" b="1" dirty="0">
                <a:solidFill>
                  <a:srgbClr val="FFFFFF"/>
                </a:solidFill>
                <a:latin typeface="Trebuchet MS"/>
              </a:rPr>
              <a:t>High-Probability Wordlists: </a:t>
            </a:r>
            <a:r>
              <a:rPr sz="1200" dirty="0">
                <a:solidFill>
                  <a:srgbClr val="BAC9E0"/>
                </a:solidFill>
                <a:latin typeface="Calibri"/>
              </a:rPr>
              <a:t>Brute-forces standard infrastructure names: `</a:t>
            </a:r>
            <a:r>
              <a:rPr sz="1200" dirty="0" err="1">
                <a:solidFill>
                  <a:srgbClr val="BAC9E0"/>
                </a:solidFill>
                <a:latin typeface="Calibri"/>
              </a:rPr>
              <a:t>api</a:t>
            </a:r>
            <a:r>
              <a:rPr sz="1200" dirty="0">
                <a:solidFill>
                  <a:srgbClr val="BAC9E0"/>
                </a:solidFill>
                <a:latin typeface="Calibri"/>
              </a:rPr>
              <a:t>`, `</a:t>
            </a:r>
            <a:r>
              <a:rPr sz="1200" dirty="0" err="1">
                <a:solidFill>
                  <a:srgbClr val="BAC9E0"/>
                </a:solidFill>
                <a:latin typeface="Calibri"/>
              </a:rPr>
              <a:t>vpn</a:t>
            </a:r>
            <a:r>
              <a:rPr sz="1200" dirty="0">
                <a:solidFill>
                  <a:srgbClr val="BAC9E0"/>
                </a:solidFill>
                <a:latin typeface="Calibri"/>
              </a:rPr>
              <a:t>`, `dev`, `admin`, `internal`, `s3`.</a:t>
            </a:r>
          </a:p>
          <a:p>
            <a:pPr>
              <a:spcAft>
                <a:spcPts val="1000"/>
              </a:spcAft>
            </a:pPr>
            <a:r>
              <a:rPr sz="1200" b="1" dirty="0">
                <a:solidFill>
                  <a:srgbClr val="00E676"/>
                </a:solidFill>
                <a:latin typeface="Consolas"/>
              </a:rPr>
              <a:t>▸ </a:t>
            </a:r>
            <a:r>
              <a:rPr sz="1200" b="1" dirty="0">
                <a:solidFill>
                  <a:srgbClr val="FFFFFF"/>
                </a:solidFill>
                <a:latin typeface="Trebuchet MS"/>
              </a:rPr>
              <a:t>Asynchronous DNS Resolution: </a:t>
            </a:r>
            <a:r>
              <a:rPr sz="1200" dirty="0">
                <a:solidFill>
                  <a:srgbClr val="BAC9E0"/>
                </a:solidFill>
                <a:latin typeface="Calibri"/>
              </a:rPr>
              <a:t>Utilizes `</a:t>
            </a:r>
            <a:r>
              <a:rPr sz="1200" dirty="0" err="1">
                <a:solidFill>
                  <a:srgbClr val="BAC9E0"/>
                </a:solidFill>
                <a:latin typeface="Calibri"/>
              </a:rPr>
              <a:t>aiodns</a:t>
            </a:r>
            <a:r>
              <a:rPr sz="1200" dirty="0">
                <a:solidFill>
                  <a:srgbClr val="BAC9E0"/>
                </a:solidFill>
                <a:latin typeface="Calibri"/>
              </a:rPr>
              <a:t>` and Python's event loop to resolve hundreds of subdomains concurrently.</a:t>
            </a:r>
          </a:p>
          <a:p>
            <a:pPr>
              <a:spcAft>
                <a:spcPts val="1000"/>
              </a:spcAft>
            </a:pPr>
            <a:r>
              <a:rPr sz="1200" b="1" dirty="0">
                <a:solidFill>
                  <a:srgbClr val="00E676"/>
                </a:solidFill>
                <a:latin typeface="Consolas"/>
              </a:rPr>
              <a:t>▸ </a:t>
            </a:r>
            <a:r>
              <a:rPr sz="1200" b="1" dirty="0">
                <a:solidFill>
                  <a:srgbClr val="FFFFFF"/>
                </a:solidFill>
                <a:latin typeface="Trebuchet MS"/>
              </a:rPr>
              <a:t>Asynchronous Wildcard Immunity: </a:t>
            </a:r>
            <a:r>
              <a:rPr sz="1200" dirty="0">
                <a:solidFill>
                  <a:srgbClr val="BAC9E0"/>
                </a:solidFill>
                <a:latin typeface="Calibri"/>
              </a:rPr>
              <a:t>Pre-probes random pseudo-random subdomains (e.g., `_random991x.target.com`). If wildcard DNS exists, matching IPs are dynamically filtered.</a:t>
            </a:r>
          </a:p>
          <a:p>
            <a:pPr>
              <a:spcAft>
                <a:spcPts val="1000"/>
              </a:spcAft>
            </a:pPr>
            <a:r>
              <a:rPr sz="1200" b="1" dirty="0">
                <a:solidFill>
                  <a:srgbClr val="00E676"/>
                </a:solidFill>
                <a:latin typeface="Consolas"/>
              </a:rPr>
              <a:t>▸ </a:t>
            </a:r>
            <a:r>
              <a:rPr sz="1200" b="1" dirty="0">
                <a:solidFill>
                  <a:srgbClr val="FFFFFF"/>
                </a:solidFill>
                <a:latin typeface="Trebuchet MS"/>
              </a:rPr>
              <a:t>Resolved Asset Union: </a:t>
            </a:r>
            <a:r>
              <a:rPr sz="1200" dirty="0">
                <a:solidFill>
                  <a:srgbClr val="BAC9E0"/>
                </a:solidFill>
                <a:latin typeface="Calibri"/>
              </a:rPr>
              <a:t>Deduplicates and merges passive CT discoveries with active resolutions into a single verified host list.</a:t>
            </a:r>
          </a:p>
        </p:txBody>
      </p:sp>
      <p:sp>
        <p:nvSpPr>
          <p:cNvPr id="12" name="Rounded Rectangle 11"/>
          <p:cNvSpPr/>
          <p:nvPr/>
        </p:nvSpPr>
        <p:spPr>
          <a:xfrm>
            <a:off x="731520" y="5532120"/>
            <a:ext cx="10698480" cy="77724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715000"/>
            <a:ext cx="10241280" cy="411480"/>
          </a:xfrm>
          <a:prstGeom prst="rect">
            <a:avLst/>
          </a:prstGeom>
          <a:noFill/>
        </p:spPr>
        <p:txBody>
          <a:bodyPr wrap="square" lIns="0" tIns="0" rIns="0" bIns="0">
            <a:spAutoFit/>
          </a:bodyPr>
          <a:lstStyle/>
          <a:p>
            <a:pPr>
              <a:spcAft>
                <a:spcPts val="1000"/>
              </a:spcAft>
            </a:pPr>
            <a:r>
              <a:rPr sz="1200" b="1">
                <a:solidFill>
                  <a:srgbClr val="FFB300"/>
                </a:solidFill>
                <a:latin typeface="Consolas"/>
              </a:rPr>
              <a:t>🎯 </a:t>
            </a:r>
            <a:r>
              <a:rPr sz="1200" b="1">
                <a:solidFill>
                  <a:srgbClr val="FFFFFF"/>
                </a:solidFill>
                <a:latin typeface="Trebuchet MS"/>
              </a:rPr>
              <a:t>WHY DUAL-PARADIGM IS ESSENTIAL: </a:t>
            </a:r>
            <a:r>
              <a:rPr sz="1200">
                <a:solidFill>
                  <a:srgbClr val="BAC9E0"/>
                </a:solidFill>
                <a:latin typeface="Calibri"/>
              </a:rPr>
              <a:t>Passive CT logs excel at finding internal naming conventions without touching the target. Active brute-forcing discovers brand-new infrastructure created before certificates are logged. Together, they provide exhaustive coverage with zero wildcard false positives.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t>// 05. LIVE SERVICE ANALYSIS &amp; VULNERABILITY AUDITING</a:t>
            </a:r>
          </a:p>
          <a:p>
            <a:pPr>
              <a:spcAft>
                <a:spcPts val="200"/>
              </a:spcAft>
              <a:defRPr sz="2400" b="1">
                <a:solidFill>
                  <a:srgbClr val="FFFFFF"/>
                </a:solidFill>
                <a:latin typeface="Trebuchet MS"/>
              </a:defRPr>
            </a:pPr>
            <a:r>
              <a:t>Phase 4: HTTP Service Probing &amp; Subdomain Takeovers</a:t>
            </a:r>
          </a:p>
          <a:p>
            <a:pPr>
              <a:defRPr sz="1200">
                <a:solidFill>
                  <a:srgbClr val="BAC9E0"/>
                </a:solidFill>
                <a:latin typeface="Calibri"/>
              </a:defRPr>
            </a:pPr>
            <a:r>
              <a:t>Converting raw DNS resolutions into live application intelligence and flagging high-risk takeovers.</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7315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828800"/>
            <a:ext cx="4754880" cy="502920"/>
          </a:xfrm>
          <a:prstGeom prst="rect">
            <a:avLst/>
          </a:prstGeom>
          <a:noFill/>
        </p:spPr>
        <p:txBody>
          <a:bodyPr wrap="square" lIns="0" tIns="0" rIns="0" bIns="0">
            <a:spAutoFit/>
          </a:bodyPr>
          <a:lstStyle/>
          <a:p>
            <a:pPr>
              <a:defRPr sz="1100" b="1">
                <a:solidFill>
                  <a:srgbClr val="00E5FF"/>
                </a:solidFill>
                <a:latin typeface="Consolas"/>
              </a:defRPr>
            </a:pPr>
            <a:r>
              <a:t>[PORTS 80 &amp; 443] </a:t>
            </a:r>
            <a:r>
              <a:rPr sz="1600" b="1">
                <a:solidFill>
                  <a:srgbClr val="FFFFFF"/>
                </a:solidFill>
                <a:latin typeface="Trebuchet MS"/>
              </a:rPr>
              <a:t>HTTP/HTTPS Service Prober</a:t>
            </a:r>
          </a:p>
        </p:txBody>
      </p:sp>
      <p:sp>
        <p:nvSpPr>
          <p:cNvPr id="8" name="TextBox 7"/>
          <p:cNvSpPr txBox="1"/>
          <p:nvPr/>
        </p:nvSpPr>
        <p:spPr>
          <a:xfrm>
            <a:off x="960120" y="2286000"/>
            <a:ext cx="4754880" cy="2971799"/>
          </a:xfrm>
          <a:prstGeom prst="rect">
            <a:avLst/>
          </a:prstGeom>
          <a:noFill/>
        </p:spPr>
        <p:txBody>
          <a:bodyPr wrap="square" lIns="0" tIns="0" rIns="0" bIns="0">
            <a:spAutoFit/>
          </a:bodyPr>
          <a:lstStyle/>
          <a:p>
            <a:pPr>
              <a:spcAft>
                <a:spcPts val="1000"/>
              </a:spcAft>
            </a:pPr>
            <a:r>
              <a:rPr sz="1200" b="1">
                <a:solidFill>
                  <a:srgbClr val="00E5FF"/>
                </a:solidFill>
                <a:latin typeface="Consolas"/>
              </a:rPr>
              <a:t>▸ </a:t>
            </a:r>
            <a:r>
              <a:rPr sz="1200" b="1">
                <a:solidFill>
                  <a:srgbClr val="FFFFFF"/>
                </a:solidFill>
                <a:latin typeface="Trebuchet MS"/>
              </a:rPr>
              <a:t>Non-Blocking Async Client: </a:t>
            </a:r>
            <a:r>
              <a:rPr sz="1200">
                <a:solidFill>
                  <a:srgbClr val="BAC9E0"/>
                </a:solidFill>
                <a:latin typeface="Calibri"/>
              </a:rPr>
              <a:t>Concurrently probes web endpoints across HTTP (Port 80) and HTTPS (Port 443) via `httpx.AsyncClient`.</a:t>
            </a:r>
          </a:p>
          <a:p>
            <a:pPr>
              <a:spcAft>
                <a:spcPts val="1000"/>
              </a:spcAft>
            </a:pPr>
            <a:r>
              <a:rPr sz="1200" b="1">
                <a:solidFill>
                  <a:srgbClr val="00E5FF"/>
                </a:solidFill>
                <a:latin typeface="Consolas"/>
              </a:rPr>
              <a:t>▸ </a:t>
            </a:r>
            <a:r>
              <a:rPr sz="1200" b="1">
                <a:solidFill>
                  <a:srgbClr val="FFFFFF"/>
                </a:solidFill>
                <a:latin typeface="Trebuchet MS"/>
              </a:rPr>
              <a:t>Self-Signed TLS Resilience: </a:t>
            </a:r>
            <a:r>
              <a:rPr sz="1200">
                <a:solidFill>
                  <a:srgbClr val="BAC9E0"/>
                </a:solidFill>
                <a:latin typeface="Calibri"/>
              </a:rPr>
              <a:t>Configured with permissive SSL verification (`verify=False`) to ensure internal staging and dev environments respond.</a:t>
            </a:r>
          </a:p>
          <a:p>
            <a:pPr>
              <a:spcAft>
                <a:spcPts val="1000"/>
              </a:spcAft>
            </a:pPr>
            <a:r>
              <a:rPr sz="1200" b="1">
                <a:solidFill>
                  <a:srgbClr val="00E5FF"/>
                </a:solidFill>
                <a:latin typeface="Consolas"/>
              </a:rPr>
              <a:t>▸ </a:t>
            </a:r>
            <a:r>
              <a:rPr sz="1200" b="1">
                <a:solidFill>
                  <a:srgbClr val="FFFFFF"/>
                </a:solidFill>
                <a:latin typeface="Trebuchet MS"/>
              </a:rPr>
              <a:t>Metadata Harvesting: </a:t>
            </a:r>
            <a:r>
              <a:rPr sz="1200">
                <a:solidFill>
                  <a:srgbClr val="BAC9E0"/>
                </a:solidFill>
                <a:latin typeface="Calibri"/>
              </a:rPr>
              <a:t>Captures HTTP status codes (`200 OK`, `301`, `403`, `500`), web server headers, and redirects.</a:t>
            </a:r>
          </a:p>
          <a:p>
            <a:pPr>
              <a:spcAft>
                <a:spcPts val="1000"/>
              </a:spcAft>
            </a:pPr>
            <a:r>
              <a:rPr sz="1200" b="1">
                <a:solidFill>
                  <a:srgbClr val="00E5FF"/>
                </a:solidFill>
                <a:latin typeface="Consolas"/>
              </a:rPr>
              <a:t>▸ </a:t>
            </a:r>
            <a:r>
              <a:rPr sz="1200" b="1">
                <a:solidFill>
                  <a:srgbClr val="FFFFFF"/>
                </a:solidFill>
                <a:latin typeface="Trebuchet MS"/>
              </a:rPr>
              <a:t>HTML Title Extraction: </a:t>
            </a:r>
            <a:r>
              <a:rPr sz="1200">
                <a:solidFill>
                  <a:srgbClr val="BAC9E0"/>
                </a:solidFill>
                <a:latin typeface="Calibri"/>
              </a:rPr>
              <a:t>Parses HTML `&lt;title&gt;` tags automatically via regex to give analysts instant contextual visibility into what application is running.</a:t>
            </a:r>
          </a:p>
        </p:txBody>
      </p:sp>
      <p:sp>
        <p:nvSpPr>
          <p:cNvPr id="9" name="Rounded Rectangle 8"/>
          <p:cNvSpPr/>
          <p:nvPr/>
        </p:nvSpPr>
        <p:spPr>
          <a:xfrm>
            <a:off x="62179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28800"/>
            <a:ext cx="4754880" cy="502920"/>
          </a:xfrm>
          <a:prstGeom prst="rect">
            <a:avLst/>
          </a:prstGeom>
          <a:noFill/>
        </p:spPr>
        <p:txBody>
          <a:bodyPr wrap="square" lIns="0" tIns="0" rIns="0" bIns="0">
            <a:spAutoFit/>
          </a:bodyPr>
          <a:lstStyle/>
          <a:p>
            <a:pPr>
              <a:defRPr sz="1100" b="1">
                <a:solidFill>
                  <a:srgbClr val="FF4081"/>
                </a:solidFill>
                <a:latin typeface="Consolas"/>
              </a:defRPr>
            </a:pPr>
            <a:r>
              <a:t>[HIGH SEVERITY ALERT] </a:t>
            </a:r>
            <a:r>
              <a:rPr sz="1600" b="1">
                <a:solidFill>
                  <a:srgbClr val="FFFFFF"/>
                </a:solidFill>
                <a:latin typeface="Trebuchet MS"/>
              </a:rPr>
              <a:t>Subdomain Takeover Detection</a:t>
            </a:r>
          </a:p>
        </p:txBody>
      </p:sp>
      <p:sp>
        <p:nvSpPr>
          <p:cNvPr id="11" name="TextBox 10"/>
          <p:cNvSpPr txBox="1"/>
          <p:nvPr/>
        </p:nvSpPr>
        <p:spPr>
          <a:xfrm>
            <a:off x="6446520" y="2286000"/>
            <a:ext cx="4754880" cy="2971799"/>
          </a:xfrm>
          <a:prstGeom prst="rect">
            <a:avLst/>
          </a:prstGeom>
          <a:noFill/>
        </p:spPr>
        <p:txBody>
          <a:bodyPr wrap="square" lIns="0" tIns="0" rIns="0" bIns="0">
            <a:spAutoFit/>
          </a:bodyPr>
          <a:lstStyle/>
          <a:p>
            <a:pPr>
              <a:spcAft>
                <a:spcPts val="1000"/>
              </a:spcAft>
            </a:pPr>
            <a:r>
              <a:rPr sz="1200" b="1">
                <a:solidFill>
                  <a:srgbClr val="FF4081"/>
                </a:solidFill>
                <a:latin typeface="Consolas"/>
              </a:rPr>
              <a:t>▸ </a:t>
            </a:r>
            <a:r>
              <a:rPr sz="1200" b="1">
                <a:solidFill>
                  <a:srgbClr val="FFFFFF"/>
                </a:solidFill>
                <a:latin typeface="Trebuchet MS"/>
              </a:rPr>
              <a:t>The Mechanics: </a:t>
            </a:r>
            <a:r>
              <a:rPr sz="1200">
                <a:solidFill>
                  <a:srgbClr val="BAC9E0"/>
                </a:solidFill>
                <a:latin typeface="Calibri"/>
              </a:rPr>
              <a:t>Occurs when a DNS CNAME points to an abandoned third-party cloud service that an attacker can claim.</a:t>
            </a:r>
          </a:p>
          <a:p>
            <a:pPr>
              <a:spcAft>
                <a:spcPts val="1000"/>
              </a:spcAft>
            </a:pPr>
            <a:r>
              <a:rPr sz="1200" b="1">
                <a:solidFill>
                  <a:srgbClr val="FF4081"/>
                </a:solidFill>
                <a:latin typeface="Consolas"/>
              </a:rPr>
              <a:t>▸ </a:t>
            </a:r>
            <a:r>
              <a:rPr sz="1200" b="1">
                <a:solidFill>
                  <a:srgbClr val="FFFFFF"/>
                </a:solidFill>
                <a:latin typeface="Trebuchet MS"/>
              </a:rPr>
              <a:t>Fingerprint Matching: </a:t>
            </a:r>
            <a:r>
              <a:rPr sz="1200">
                <a:solidFill>
                  <a:srgbClr val="BAC9E0"/>
                </a:solidFill>
                <a:latin typeface="Calibri"/>
              </a:rPr>
              <a:t>Inspects raw response bodies against a curated database of provider error signatures.</a:t>
            </a:r>
          </a:p>
          <a:p>
            <a:pPr>
              <a:spcAft>
                <a:spcPts val="1000"/>
              </a:spcAft>
            </a:pPr>
            <a:r>
              <a:rPr sz="1200" b="1">
                <a:solidFill>
                  <a:srgbClr val="FF4081"/>
                </a:solidFill>
                <a:latin typeface="Consolas"/>
              </a:rPr>
              <a:t>▸ </a:t>
            </a:r>
            <a:r>
              <a:rPr sz="1200" b="1">
                <a:solidFill>
                  <a:srgbClr val="FFFFFF"/>
                </a:solidFill>
                <a:latin typeface="Trebuchet MS"/>
              </a:rPr>
              <a:t>Multi-Provider Signatures: </a:t>
            </a:r>
            <a:r>
              <a:rPr sz="1200">
                <a:solidFill>
                  <a:srgbClr val="BAC9E0"/>
                </a:solidFill>
                <a:latin typeface="Calibri"/>
              </a:rPr>
              <a:t>Detects AWS S3 (`NoSuchBucket`), GitHub Pages (`There isn't a GitHub Pages site here`), Heroku (`No such app`), Azure, Shopify, and Fastly.</a:t>
            </a:r>
          </a:p>
          <a:p>
            <a:pPr>
              <a:spcAft>
                <a:spcPts val="1000"/>
              </a:spcAft>
            </a:pPr>
            <a:r>
              <a:rPr sz="1200" b="1">
                <a:solidFill>
                  <a:srgbClr val="FF4081"/>
                </a:solidFill>
                <a:latin typeface="Consolas"/>
              </a:rPr>
              <a:t>▸ </a:t>
            </a:r>
            <a:r>
              <a:rPr sz="1200" b="1">
                <a:solidFill>
                  <a:srgbClr val="FFFFFF"/>
                </a:solidFill>
                <a:latin typeface="Trebuchet MS"/>
              </a:rPr>
              <a:t>Instant Alerting: </a:t>
            </a:r>
            <a:r>
              <a:rPr sz="1200">
                <a:solidFill>
                  <a:srgbClr val="BAC9E0"/>
                </a:solidFill>
                <a:latin typeface="Calibri"/>
              </a:rPr>
              <a:t>Flags vulnerable targets with `[!] VULNERABLE` in terminal output and tags them in structured JSON exports.</a:t>
            </a:r>
          </a:p>
        </p:txBody>
      </p:sp>
      <p:sp>
        <p:nvSpPr>
          <p:cNvPr id="12" name="Rounded Rectangle 11"/>
          <p:cNvSpPr/>
          <p:nvPr/>
        </p:nvSpPr>
        <p:spPr>
          <a:xfrm>
            <a:off x="731520" y="5532120"/>
            <a:ext cx="10698480" cy="77724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715000"/>
            <a:ext cx="10241280" cy="411480"/>
          </a:xfrm>
          <a:prstGeom prst="rect">
            <a:avLst/>
          </a:prstGeom>
          <a:noFill/>
        </p:spPr>
        <p:txBody>
          <a:bodyPr wrap="square" lIns="0" tIns="0" rIns="0" bIns="0">
            <a:spAutoFit/>
          </a:bodyPr>
          <a:lstStyle/>
          <a:p>
            <a:pPr>
              <a:spcAft>
                <a:spcPts val="1000"/>
              </a:spcAft>
            </a:pPr>
            <a:r>
              <a:rPr sz="1200" b="1">
                <a:solidFill>
                  <a:srgbClr val="FF4081"/>
                </a:solidFill>
                <a:latin typeface="Consolas"/>
              </a:rPr>
              <a:t>🚨 </a:t>
            </a:r>
            <a:r>
              <a:rPr sz="1200" b="1">
                <a:solidFill>
                  <a:srgbClr val="FFFFFF"/>
                </a:solidFill>
                <a:latin typeface="Trebuchet MS"/>
              </a:rPr>
              <a:t>EXPLOITATION CHAIN PREVENTED: </a:t>
            </a:r>
            <a:r>
              <a:rPr sz="1200">
                <a:solidFill>
                  <a:srgbClr val="BAC9E0"/>
                </a:solidFill>
                <a:latin typeface="Calibri"/>
              </a:rPr>
              <a:t>Dangling CNAME (`docs.company.com -&gt; company.s3.amazonaws.com`)  ──&gt;  AWS Bucket Deleted  ──&gt;  Attacker Reclaims S3 Bucket  ──&gt;  Complete Domain Hijack &amp; Cookie Theft. OmniRecon catches this instantly.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60520" y="1577340"/>
            <a:ext cx="33832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rPr dirty="0"/>
              <a:t>// 06. SYSTEMS ARCHITECTURE (CORE DIFFERENTIATOR)</a:t>
            </a:r>
          </a:p>
          <a:p>
            <a:pPr>
              <a:spcAft>
                <a:spcPts val="200"/>
              </a:spcAft>
              <a:defRPr sz="2400" b="1">
                <a:solidFill>
                  <a:srgbClr val="FFFFFF"/>
                </a:solidFill>
                <a:latin typeface="Trebuchet MS"/>
              </a:defRPr>
            </a:pPr>
            <a:r>
              <a:rPr dirty="0"/>
              <a:t>Software Architecture: High-Throughput </a:t>
            </a:r>
            <a:r>
              <a:rPr dirty="0" err="1"/>
              <a:t>AsyncIO</a:t>
            </a:r>
            <a:r>
              <a:rPr dirty="0"/>
              <a:t> Engine</a:t>
            </a:r>
          </a:p>
          <a:p>
            <a:pPr>
              <a:defRPr sz="1200">
                <a:solidFill>
                  <a:srgbClr val="BAC9E0"/>
                </a:solidFill>
                <a:latin typeface="Calibri"/>
              </a:defRPr>
            </a:pPr>
            <a:r>
              <a:rPr dirty="0"/>
              <a:t>Architected for maximum concurrency, memory efficiency, and deterministic modularity.</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7818120" y="1577340"/>
            <a:ext cx="33832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91195" y="1829584"/>
            <a:ext cx="2926080" cy="415498"/>
          </a:xfrm>
          <a:prstGeom prst="rect">
            <a:avLst/>
          </a:prstGeom>
          <a:noFill/>
        </p:spPr>
        <p:txBody>
          <a:bodyPr wrap="square" lIns="0" tIns="0" rIns="0" bIns="0">
            <a:spAutoFit/>
          </a:bodyPr>
          <a:lstStyle/>
          <a:p>
            <a:pPr>
              <a:defRPr sz="1100" b="1">
                <a:solidFill>
                  <a:srgbClr val="00E5FF"/>
                </a:solidFill>
                <a:latin typeface="Consolas"/>
              </a:defRPr>
            </a:pPr>
            <a:r>
              <a:rPr dirty="0"/>
              <a:t>[PERFORMANCE] </a:t>
            </a:r>
            <a:endParaRPr lang="en-IN" dirty="0"/>
          </a:p>
          <a:p>
            <a:pPr>
              <a:defRPr sz="1100" b="1">
                <a:solidFill>
                  <a:srgbClr val="00E5FF"/>
                </a:solidFill>
                <a:latin typeface="Consolas"/>
              </a:defRPr>
            </a:pPr>
            <a:r>
              <a:rPr sz="1600" b="1" dirty="0" err="1">
                <a:solidFill>
                  <a:srgbClr val="FFFFFF"/>
                </a:solidFill>
                <a:latin typeface="Trebuchet MS"/>
              </a:rPr>
              <a:t>AsyncIO</a:t>
            </a:r>
            <a:r>
              <a:rPr sz="1600" b="1" dirty="0">
                <a:solidFill>
                  <a:srgbClr val="FFFFFF"/>
                </a:solidFill>
                <a:latin typeface="Trebuchet MS"/>
              </a:rPr>
              <a:t> vs. Threading</a:t>
            </a:r>
          </a:p>
        </p:txBody>
      </p:sp>
      <p:sp>
        <p:nvSpPr>
          <p:cNvPr id="8" name="TextBox 7"/>
          <p:cNvSpPr txBox="1"/>
          <p:nvPr/>
        </p:nvSpPr>
        <p:spPr>
          <a:xfrm>
            <a:off x="8054017" y="2395694"/>
            <a:ext cx="2926080" cy="2971799"/>
          </a:xfrm>
          <a:prstGeom prst="rect">
            <a:avLst/>
          </a:prstGeom>
          <a:noFill/>
        </p:spPr>
        <p:txBody>
          <a:bodyPr wrap="square" lIns="0" tIns="0" rIns="0" bIns="0">
            <a:spAutoFit/>
          </a:bodyPr>
          <a:lstStyle/>
          <a:p>
            <a:pPr>
              <a:spcAft>
                <a:spcPts val="1000"/>
              </a:spcAft>
            </a:pPr>
            <a:r>
              <a:rPr sz="1200" b="1" dirty="0">
                <a:solidFill>
                  <a:srgbClr val="00E5FF"/>
                </a:solidFill>
                <a:latin typeface="Consolas"/>
              </a:rPr>
              <a:t>▸ </a:t>
            </a:r>
            <a:r>
              <a:rPr sz="1200" b="1" dirty="0">
                <a:solidFill>
                  <a:srgbClr val="FFFFFF"/>
                </a:solidFill>
                <a:latin typeface="Trebuchet MS"/>
              </a:rPr>
              <a:t>The Threading Bottleneck: </a:t>
            </a:r>
            <a:r>
              <a:rPr sz="1200" dirty="0">
                <a:solidFill>
                  <a:srgbClr val="BAC9E0"/>
                </a:solidFill>
                <a:latin typeface="Calibri"/>
              </a:rPr>
              <a:t>`</a:t>
            </a:r>
            <a:r>
              <a:rPr sz="1200" dirty="0" err="1">
                <a:solidFill>
                  <a:srgbClr val="BAC9E0"/>
                </a:solidFill>
                <a:latin typeface="Calibri"/>
              </a:rPr>
              <a:t>ThreadPoolExecutor</a:t>
            </a:r>
            <a:r>
              <a:rPr sz="1200" dirty="0">
                <a:solidFill>
                  <a:srgbClr val="BAC9E0"/>
                </a:solidFill>
                <a:latin typeface="Calibri"/>
              </a:rPr>
              <a:t>` allocates OS-level threads. Each incurs a 4–8MB memory stack and heavy kernel context-switching.</a:t>
            </a:r>
          </a:p>
          <a:p>
            <a:pPr>
              <a:spcAft>
                <a:spcPts val="1000"/>
              </a:spcAft>
            </a:pPr>
            <a:r>
              <a:rPr sz="1200" b="1" dirty="0">
                <a:solidFill>
                  <a:srgbClr val="00E5FF"/>
                </a:solidFill>
                <a:latin typeface="Consolas"/>
              </a:rPr>
              <a:t>▸ </a:t>
            </a:r>
            <a:r>
              <a:rPr sz="1200" b="1" dirty="0">
                <a:solidFill>
                  <a:srgbClr val="FFFFFF"/>
                </a:solidFill>
                <a:latin typeface="Trebuchet MS"/>
              </a:rPr>
              <a:t>Single-Thread Event Loop: </a:t>
            </a:r>
            <a:r>
              <a:rPr sz="1200" dirty="0">
                <a:solidFill>
                  <a:srgbClr val="BAC9E0"/>
                </a:solidFill>
                <a:latin typeface="Calibri"/>
              </a:rPr>
              <a:t>`</a:t>
            </a:r>
            <a:r>
              <a:rPr sz="1200" dirty="0" err="1">
                <a:solidFill>
                  <a:srgbClr val="BAC9E0"/>
                </a:solidFill>
                <a:latin typeface="Calibri"/>
              </a:rPr>
              <a:t>aiodns</a:t>
            </a:r>
            <a:r>
              <a:rPr sz="1200" dirty="0">
                <a:solidFill>
                  <a:srgbClr val="BAC9E0"/>
                </a:solidFill>
                <a:latin typeface="Calibri"/>
              </a:rPr>
              <a:t>` interfaces with `c-</a:t>
            </a:r>
            <a:r>
              <a:rPr sz="1200" dirty="0" err="1">
                <a:solidFill>
                  <a:srgbClr val="BAC9E0"/>
                </a:solidFill>
                <a:latin typeface="Calibri"/>
              </a:rPr>
              <a:t>ares</a:t>
            </a:r>
            <a:r>
              <a:rPr sz="1200" dirty="0">
                <a:solidFill>
                  <a:srgbClr val="BAC9E0"/>
                </a:solidFill>
                <a:latin typeface="Calibri"/>
              </a:rPr>
              <a:t>`, an asynchronous DNS library in C, running on Python's native event loop.</a:t>
            </a:r>
          </a:p>
          <a:p>
            <a:pPr>
              <a:spcAft>
                <a:spcPts val="1000"/>
              </a:spcAft>
            </a:pPr>
            <a:r>
              <a:rPr sz="1200" b="1" dirty="0">
                <a:solidFill>
                  <a:srgbClr val="00E5FF"/>
                </a:solidFill>
                <a:latin typeface="Consolas"/>
              </a:rPr>
              <a:t>▸ </a:t>
            </a:r>
            <a:r>
              <a:rPr sz="1200" b="1" dirty="0">
                <a:solidFill>
                  <a:srgbClr val="FFFFFF"/>
                </a:solidFill>
                <a:latin typeface="Trebuchet MS"/>
              </a:rPr>
              <a:t>Massive Resource Efficiency: </a:t>
            </a:r>
            <a:r>
              <a:rPr sz="1200" dirty="0">
                <a:solidFill>
                  <a:srgbClr val="BAC9E0"/>
                </a:solidFill>
                <a:latin typeface="Calibri"/>
              </a:rPr>
              <a:t>Handles thousands of in-flight network queries concurrently with negligible CPU overhead and minimal RAM.</a:t>
            </a:r>
          </a:p>
        </p:txBody>
      </p:sp>
      <p:sp>
        <p:nvSpPr>
          <p:cNvPr id="9" name="Rounded Rectangle 8"/>
          <p:cNvSpPr/>
          <p:nvPr/>
        </p:nvSpPr>
        <p:spPr>
          <a:xfrm>
            <a:off x="489783" y="1543050"/>
            <a:ext cx="33832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759125" y="1829584"/>
            <a:ext cx="2926080" cy="415498"/>
          </a:xfrm>
          <a:prstGeom prst="rect">
            <a:avLst/>
          </a:prstGeom>
          <a:noFill/>
        </p:spPr>
        <p:txBody>
          <a:bodyPr wrap="square" lIns="0" tIns="0" rIns="0" bIns="0">
            <a:spAutoFit/>
          </a:bodyPr>
          <a:lstStyle/>
          <a:p>
            <a:pPr>
              <a:defRPr sz="1100" b="1">
                <a:solidFill>
                  <a:srgbClr val="00E676"/>
                </a:solidFill>
                <a:latin typeface="Consolas"/>
              </a:defRPr>
            </a:pPr>
            <a:r>
              <a:rPr dirty="0"/>
              <a:t>[RELIABILITY] </a:t>
            </a:r>
            <a:endParaRPr lang="en-IN" dirty="0"/>
          </a:p>
          <a:p>
            <a:pPr>
              <a:defRPr sz="1100" b="1">
                <a:solidFill>
                  <a:srgbClr val="00E676"/>
                </a:solidFill>
                <a:latin typeface="Consolas"/>
              </a:defRPr>
            </a:pPr>
            <a:r>
              <a:rPr sz="1600" b="1" dirty="0">
                <a:solidFill>
                  <a:srgbClr val="FFFFFF"/>
                </a:solidFill>
                <a:latin typeface="Trebuchet MS"/>
              </a:rPr>
              <a:t>Connection Throttling</a:t>
            </a:r>
          </a:p>
        </p:txBody>
      </p:sp>
      <p:sp>
        <p:nvSpPr>
          <p:cNvPr id="11" name="TextBox 10"/>
          <p:cNvSpPr txBox="1"/>
          <p:nvPr/>
        </p:nvSpPr>
        <p:spPr>
          <a:xfrm>
            <a:off x="731520" y="2450038"/>
            <a:ext cx="2926080" cy="2971799"/>
          </a:xfrm>
          <a:prstGeom prst="rect">
            <a:avLst/>
          </a:prstGeom>
          <a:noFill/>
        </p:spPr>
        <p:txBody>
          <a:bodyPr wrap="square" lIns="0" tIns="0" rIns="0" bIns="0">
            <a:spAutoFit/>
          </a:bodyPr>
          <a:lstStyle/>
          <a:p>
            <a:pPr>
              <a:spcAft>
                <a:spcPts val="1000"/>
              </a:spcAft>
            </a:pPr>
            <a:r>
              <a:rPr sz="1200" b="1" dirty="0">
                <a:solidFill>
                  <a:srgbClr val="00E676"/>
                </a:solidFill>
                <a:latin typeface="Consolas"/>
              </a:rPr>
              <a:t>▸ </a:t>
            </a:r>
            <a:r>
              <a:rPr sz="1200" b="1" dirty="0">
                <a:solidFill>
                  <a:srgbClr val="FFFFFF"/>
                </a:solidFill>
                <a:latin typeface="Trebuchet MS"/>
              </a:rPr>
              <a:t>The Unbounded Trap: </a:t>
            </a:r>
            <a:r>
              <a:rPr sz="1200" dirty="0">
                <a:solidFill>
                  <a:srgbClr val="BAC9E0"/>
                </a:solidFill>
                <a:latin typeface="Calibri"/>
              </a:rPr>
              <a:t>Unbounded `</a:t>
            </a:r>
            <a:r>
              <a:rPr sz="1200" dirty="0" err="1">
                <a:solidFill>
                  <a:srgbClr val="BAC9E0"/>
                </a:solidFill>
                <a:latin typeface="Calibri"/>
              </a:rPr>
              <a:t>asyncio.gather</a:t>
            </a:r>
            <a:r>
              <a:rPr sz="1200" dirty="0">
                <a:solidFill>
                  <a:srgbClr val="BAC9E0"/>
                </a:solidFill>
                <a:latin typeface="Calibri"/>
              </a:rPr>
              <a:t>()` launches all tasks simultaneously, causing `EMFILE` (Too many open files) crashes.</a:t>
            </a:r>
          </a:p>
          <a:p>
            <a:pPr>
              <a:spcAft>
                <a:spcPts val="1000"/>
              </a:spcAft>
            </a:pPr>
            <a:r>
              <a:rPr sz="1200" b="1" dirty="0">
                <a:solidFill>
                  <a:srgbClr val="00E676"/>
                </a:solidFill>
                <a:latin typeface="Consolas"/>
              </a:rPr>
              <a:t>▸ </a:t>
            </a:r>
            <a:r>
              <a:rPr sz="1200" b="1" dirty="0" err="1">
                <a:solidFill>
                  <a:srgbClr val="FFFFFF"/>
                </a:solidFill>
                <a:latin typeface="Trebuchet MS"/>
              </a:rPr>
              <a:t>asyncio.Semaphore</a:t>
            </a:r>
            <a:r>
              <a:rPr sz="1200" b="1" dirty="0">
                <a:solidFill>
                  <a:srgbClr val="FFFFFF"/>
                </a:solidFill>
                <a:latin typeface="Trebuchet MS"/>
              </a:rPr>
              <a:t> Guard: </a:t>
            </a:r>
            <a:r>
              <a:rPr sz="1200" dirty="0">
                <a:solidFill>
                  <a:srgbClr val="BAC9E0"/>
                </a:solidFill>
                <a:latin typeface="Calibri"/>
              </a:rPr>
              <a:t>Strictly controls active in-flight sockets (e.g. `--threads 25`), enforcing non-blocking backpressure.</a:t>
            </a:r>
          </a:p>
          <a:p>
            <a:pPr>
              <a:spcAft>
                <a:spcPts val="1000"/>
              </a:spcAft>
            </a:pPr>
            <a:r>
              <a:rPr sz="1200" b="1" dirty="0">
                <a:solidFill>
                  <a:srgbClr val="00E676"/>
                </a:solidFill>
                <a:latin typeface="Consolas"/>
              </a:rPr>
              <a:t>▸ </a:t>
            </a:r>
            <a:r>
              <a:rPr sz="1200" b="1" dirty="0">
                <a:solidFill>
                  <a:srgbClr val="FFFFFF"/>
                </a:solidFill>
                <a:latin typeface="Trebuchet MS"/>
              </a:rPr>
              <a:t>DNS Rate-Limit Immunity: </a:t>
            </a:r>
            <a:r>
              <a:rPr sz="1200" dirty="0">
                <a:solidFill>
                  <a:srgbClr val="BAC9E0"/>
                </a:solidFill>
                <a:latin typeface="Calibri"/>
              </a:rPr>
              <a:t>Prevents UDP packet loss and DNS resolver drops caused by aggressive bursts on upstream recursive resolvers.</a:t>
            </a:r>
          </a:p>
        </p:txBody>
      </p:sp>
      <p:sp>
        <p:nvSpPr>
          <p:cNvPr id="13" name="TextBox 12"/>
          <p:cNvSpPr txBox="1"/>
          <p:nvPr/>
        </p:nvSpPr>
        <p:spPr>
          <a:xfrm>
            <a:off x="4553022" y="1828800"/>
            <a:ext cx="2926080" cy="415498"/>
          </a:xfrm>
          <a:prstGeom prst="rect">
            <a:avLst/>
          </a:prstGeom>
          <a:noFill/>
        </p:spPr>
        <p:txBody>
          <a:bodyPr wrap="square" lIns="0" tIns="0" rIns="0" bIns="0">
            <a:spAutoFit/>
          </a:bodyPr>
          <a:lstStyle/>
          <a:p>
            <a:pPr>
              <a:defRPr sz="1100" b="1">
                <a:solidFill>
                  <a:srgbClr val="448AFF"/>
                </a:solidFill>
                <a:latin typeface="Consolas"/>
              </a:defRPr>
            </a:pPr>
            <a:r>
              <a:rPr dirty="0"/>
              <a:t>[ENGINEERING RIGOR] </a:t>
            </a:r>
            <a:endParaRPr lang="en-IN" dirty="0"/>
          </a:p>
          <a:p>
            <a:pPr>
              <a:defRPr sz="1100" b="1">
                <a:solidFill>
                  <a:srgbClr val="448AFF"/>
                </a:solidFill>
                <a:latin typeface="Consolas"/>
              </a:defRPr>
            </a:pPr>
            <a:r>
              <a:rPr sz="1600" b="1" dirty="0">
                <a:solidFill>
                  <a:srgbClr val="FFFFFF"/>
                </a:solidFill>
                <a:latin typeface="Trebuchet MS"/>
              </a:rPr>
              <a:t>Modular Architecture</a:t>
            </a:r>
          </a:p>
        </p:txBody>
      </p:sp>
      <p:sp>
        <p:nvSpPr>
          <p:cNvPr id="14" name="TextBox 13"/>
          <p:cNvSpPr txBox="1"/>
          <p:nvPr/>
        </p:nvSpPr>
        <p:spPr>
          <a:xfrm>
            <a:off x="4553022" y="2450039"/>
            <a:ext cx="2926080" cy="2971799"/>
          </a:xfrm>
          <a:prstGeom prst="rect">
            <a:avLst/>
          </a:prstGeom>
          <a:noFill/>
        </p:spPr>
        <p:txBody>
          <a:bodyPr wrap="square" lIns="0" tIns="0" rIns="0" bIns="0">
            <a:spAutoFit/>
          </a:bodyPr>
          <a:lstStyle/>
          <a:p>
            <a:pPr>
              <a:spcAft>
                <a:spcPts val="1000"/>
              </a:spcAft>
            </a:pPr>
            <a:r>
              <a:rPr sz="1200" b="1" dirty="0">
                <a:solidFill>
                  <a:srgbClr val="448AFF"/>
                </a:solidFill>
                <a:latin typeface="Consolas"/>
              </a:rPr>
              <a:t>▸ </a:t>
            </a:r>
            <a:r>
              <a:rPr sz="1200" b="1" dirty="0">
                <a:solidFill>
                  <a:srgbClr val="FFFFFF"/>
                </a:solidFill>
                <a:latin typeface="Trebuchet MS"/>
              </a:rPr>
              <a:t>Strongly Typed Contracts: </a:t>
            </a:r>
            <a:r>
              <a:rPr sz="1200" dirty="0">
                <a:solidFill>
                  <a:srgbClr val="BAC9E0"/>
                </a:solidFill>
                <a:latin typeface="Calibri"/>
              </a:rPr>
              <a:t>Subsystems return immutable Python `@</a:t>
            </a:r>
            <a:r>
              <a:rPr sz="1200" dirty="0" err="1">
                <a:solidFill>
                  <a:srgbClr val="BAC9E0"/>
                </a:solidFill>
                <a:latin typeface="Calibri"/>
              </a:rPr>
              <a:t>dataclass</a:t>
            </a:r>
            <a:r>
              <a:rPr sz="1200" dirty="0">
                <a:solidFill>
                  <a:srgbClr val="BAC9E0"/>
                </a:solidFill>
                <a:latin typeface="Calibri"/>
              </a:rPr>
              <a:t>` structures (`</a:t>
            </a:r>
            <a:r>
              <a:rPr sz="1200" dirty="0" err="1">
                <a:solidFill>
                  <a:srgbClr val="BAC9E0"/>
                </a:solidFill>
                <a:latin typeface="Calibri"/>
              </a:rPr>
              <a:t>WhoisResult</a:t>
            </a:r>
            <a:r>
              <a:rPr sz="1200" dirty="0">
                <a:solidFill>
                  <a:srgbClr val="BAC9E0"/>
                </a:solidFill>
                <a:latin typeface="Calibri"/>
              </a:rPr>
              <a:t>`, `</a:t>
            </a:r>
            <a:r>
              <a:rPr sz="1200" dirty="0" err="1">
                <a:solidFill>
                  <a:srgbClr val="BAC9E0"/>
                </a:solidFill>
                <a:latin typeface="Calibri"/>
              </a:rPr>
              <a:t>DnsResult</a:t>
            </a:r>
            <a:r>
              <a:rPr sz="1200" dirty="0">
                <a:solidFill>
                  <a:srgbClr val="BAC9E0"/>
                </a:solidFill>
                <a:latin typeface="Calibri"/>
              </a:rPr>
              <a:t>`, `</a:t>
            </a:r>
            <a:r>
              <a:rPr sz="1200" dirty="0" err="1">
                <a:solidFill>
                  <a:srgbClr val="BAC9E0"/>
                </a:solidFill>
                <a:latin typeface="Calibri"/>
              </a:rPr>
              <a:t>SubdomainResult</a:t>
            </a:r>
            <a:r>
              <a:rPr sz="1200" dirty="0">
                <a:solidFill>
                  <a:srgbClr val="BAC9E0"/>
                </a:solidFill>
                <a:latin typeface="Calibri"/>
              </a:rPr>
              <a:t>`).</a:t>
            </a:r>
          </a:p>
          <a:p>
            <a:pPr>
              <a:spcAft>
                <a:spcPts val="1000"/>
              </a:spcAft>
            </a:pPr>
            <a:r>
              <a:rPr sz="1200" b="1" dirty="0">
                <a:solidFill>
                  <a:srgbClr val="448AFF"/>
                </a:solidFill>
                <a:latin typeface="Consolas"/>
              </a:rPr>
              <a:t>▸ </a:t>
            </a:r>
            <a:r>
              <a:rPr sz="1200" b="1" dirty="0">
                <a:solidFill>
                  <a:srgbClr val="FFFFFF"/>
                </a:solidFill>
                <a:latin typeface="Trebuchet MS"/>
              </a:rPr>
              <a:t>Single Responsibility: </a:t>
            </a:r>
            <a:r>
              <a:rPr sz="1200" dirty="0">
                <a:solidFill>
                  <a:srgbClr val="BAC9E0"/>
                </a:solidFill>
                <a:latin typeface="Calibri"/>
              </a:rPr>
              <a:t>Isolated modules: CLI dispatch, WHOIS lookup, DNS harvester, Subdomain prober, and JSON/CSV exporters.</a:t>
            </a:r>
          </a:p>
          <a:p>
            <a:pPr>
              <a:spcAft>
                <a:spcPts val="1000"/>
              </a:spcAft>
            </a:pPr>
            <a:r>
              <a:rPr sz="1200" b="1" dirty="0">
                <a:solidFill>
                  <a:srgbClr val="448AFF"/>
                </a:solidFill>
                <a:latin typeface="Consolas"/>
              </a:rPr>
              <a:t>▸ </a:t>
            </a:r>
            <a:r>
              <a:rPr sz="1200" b="1" dirty="0">
                <a:solidFill>
                  <a:srgbClr val="FFFFFF"/>
                </a:solidFill>
                <a:latin typeface="Trebuchet MS"/>
              </a:rPr>
              <a:t>100% Deterministic Testing: </a:t>
            </a:r>
            <a:r>
              <a:rPr sz="1200" dirty="0">
                <a:solidFill>
                  <a:srgbClr val="BAC9E0"/>
                </a:solidFill>
                <a:latin typeface="Calibri"/>
              </a:rPr>
              <a:t>Full test suite using `</a:t>
            </a:r>
            <a:r>
              <a:rPr sz="1200" dirty="0" err="1">
                <a:solidFill>
                  <a:srgbClr val="BAC9E0"/>
                </a:solidFill>
                <a:latin typeface="Calibri"/>
              </a:rPr>
              <a:t>unittest.mock</a:t>
            </a:r>
            <a:r>
              <a:rPr sz="1200" dirty="0">
                <a:solidFill>
                  <a:srgbClr val="BAC9E0"/>
                </a:solidFill>
                <a:latin typeface="Calibri"/>
              </a:rPr>
              <a:t>` and `</a:t>
            </a:r>
            <a:r>
              <a:rPr sz="1200" dirty="0" err="1">
                <a:solidFill>
                  <a:srgbClr val="BAC9E0"/>
                </a:solidFill>
                <a:latin typeface="Calibri"/>
              </a:rPr>
              <a:t>AsyncMock</a:t>
            </a:r>
            <a:r>
              <a:rPr sz="1200" dirty="0">
                <a:solidFill>
                  <a:srgbClr val="BAC9E0"/>
                </a:solidFill>
                <a:latin typeface="Calibri"/>
              </a:rPr>
              <a:t>` ensures zero live network dependencies during CI.</a:t>
            </a:r>
          </a:p>
        </p:txBody>
      </p:sp>
      <p:sp>
        <p:nvSpPr>
          <p:cNvPr id="15" name="Rounded Rectangle 14"/>
          <p:cNvSpPr/>
          <p:nvPr/>
        </p:nvSpPr>
        <p:spPr>
          <a:xfrm>
            <a:off x="731520" y="5532120"/>
            <a:ext cx="10698480" cy="77724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5715000"/>
            <a:ext cx="10241280" cy="411480"/>
          </a:xfrm>
          <a:prstGeom prst="rect">
            <a:avLst/>
          </a:prstGeom>
          <a:noFill/>
        </p:spPr>
        <p:txBody>
          <a:bodyPr wrap="square" lIns="0" tIns="0" rIns="0" bIns="0">
            <a:spAutoFit/>
          </a:bodyPr>
          <a:lstStyle/>
          <a:p>
            <a:pPr>
              <a:spcAft>
                <a:spcPts val="1000"/>
              </a:spcAft>
            </a:pPr>
            <a:r>
              <a:rPr sz="1200" b="1">
                <a:solidFill>
                  <a:srgbClr val="00E676"/>
                </a:solidFill>
                <a:latin typeface="Consolas"/>
              </a:rPr>
              <a:t>🚀 </a:t>
            </a:r>
            <a:r>
              <a:rPr sz="1200" b="1">
                <a:solidFill>
                  <a:srgbClr val="FFFFFF"/>
                </a:solidFill>
                <a:latin typeface="Trebuchet MS"/>
              </a:rPr>
              <a:t>ARCHITECTURAL IMPACT: </a:t>
            </a:r>
            <a:r>
              <a:rPr sz="1200">
                <a:solidFill>
                  <a:srgbClr val="BAC9E0"/>
                </a:solidFill>
                <a:latin typeface="Calibri"/>
              </a:rPr>
              <a:t>Replacing synchronous multi-threading with an AsyncIO event loop and Semaphore throttling eliminated thread starvation, reduced memory consumption by ~85%, and enabled seamless scanning of 10,000+ domain wordlists.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28593" y="1643823"/>
            <a:ext cx="33832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t>// 07. FUTURE ROADMAP</a:t>
            </a:r>
          </a:p>
          <a:p>
            <a:pPr>
              <a:spcAft>
                <a:spcPts val="200"/>
              </a:spcAft>
              <a:defRPr sz="2400" b="1">
                <a:solidFill>
                  <a:srgbClr val="FFFFFF"/>
                </a:solidFill>
                <a:latin typeface="Trebuchet MS"/>
              </a:defRPr>
            </a:pPr>
            <a:r>
              <a:t>Future Enhancements &amp; Engineering Roadmap</a:t>
            </a:r>
          </a:p>
          <a:p>
            <a:pPr>
              <a:defRPr sz="1200">
                <a:solidFill>
                  <a:srgbClr val="BAC9E0"/>
                </a:solidFill>
                <a:latin typeface="Calibri"/>
              </a:defRPr>
            </a:pPr>
            <a:r>
              <a:t>Extending OmniRecon into continuous automated security monitoring and DevOps pipelines.</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8329543" y="1623060"/>
            <a:ext cx="33832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993756" y="1882805"/>
            <a:ext cx="2926080" cy="415498"/>
          </a:xfrm>
          <a:prstGeom prst="rect">
            <a:avLst/>
          </a:prstGeom>
          <a:noFill/>
        </p:spPr>
        <p:txBody>
          <a:bodyPr wrap="square" lIns="0" tIns="0" rIns="0" bIns="0">
            <a:spAutoFit/>
          </a:bodyPr>
          <a:lstStyle/>
          <a:p>
            <a:pPr>
              <a:defRPr sz="1100" b="1">
                <a:solidFill>
                  <a:srgbClr val="00E5FF"/>
                </a:solidFill>
                <a:latin typeface="Consolas"/>
              </a:defRPr>
            </a:pPr>
            <a:r>
              <a:rPr dirty="0"/>
              <a:t>[DEVSECOPS PIPELINE] </a:t>
            </a:r>
            <a:endParaRPr lang="en-IN" dirty="0"/>
          </a:p>
          <a:p>
            <a:pPr>
              <a:defRPr sz="1100" b="1">
                <a:solidFill>
                  <a:srgbClr val="00E5FF"/>
                </a:solidFill>
                <a:latin typeface="Consolas"/>
              </a:defRPr>
            </a:pPr>
            <a:r>
              <a:rPr sz="1600" b="1" dirty="0">
                <a:solidFill>
                  <a:srgbClr val="FFFFFF"/>
                </a:solidFill>
                <a:latin typeface="Trebuchet MS"/>
              </a:rPr>
              <a:t>CI/CD &amp; Containerization</a:t>
            </a:r>
          </a:p>
        </p:txBody>
      </p:sp>
      <p:sp>
        <p:nvSpPr>
          <p:cNvPr id="8" name="TextBox 7"/>
          <p:cNvSpPr txBox="1"/>
          <p:nvPr/>
        </p:nvSpPr>
        <p:spPr>
          <a:xfrm>
            <a:off x="960120" y="2624706"/>
            <a:ext cx="2926080" cy="2971799"/>
          </a:xfrm>
          <a:prstGeom prst="rect">
            <a:avLst/>
          </a:prstGeom>
          <a:noFill/>
        </p:spPr>
        <p:txBody>
          <a:bodyPr wrap="square" lIns="0" tIns="0" rIns="0" bIns="0">
            <a:spAutoFit/>
          </a:bodyPr>
          <a:lstStyle/>
          <a:p>
            <a:pPr>
              <a:spcAft>
                <a:spcPts val="1000"/>
              </a:spcAft>
            </a:pPr>
            <a:r>
              <a:rPr sz="1200" b="1" dirty="0">
                <a:solidFill>
                  <a:srgbClr val="00E5FF"/>
                </a:solidFill>
                <a:latin typeface="Consolas"/>
              </a:rPr>
              <a:t>▸ </a:t>
            </a:r>
            <a:r>
              <a:rPr sz="1200" b="1" dirty="0">
                <a:solidFill>
                  <a:srgbClr val="FFFFFF"/>
                </a:solidFill>
                <a:latin typeface="Trebuchet MS"/>
              </a:rPr>
              <a:t>Docker Multi-Stage Build: </a:t>
            </a:r>
            <a:r>
              <a:rPr sz="1200" dirty="0">
                <a:solidFill>
                  <a:srgbClr val="BAC9E0"/>
                </a:solidFill>
                <a:latin typeface="Calibri"/>
              </a:rPr>
              <a:t>Package </a:t>
            </a:r>
            <a:r>
              <a:rPr sz="1200" dirty="0" err="1">
                <a:solidFill>
                  <a:srgbClr val="BAC9E0"/>
                </a:solidFill>
                <a:latin typeface="Calibri"/>
              </a:rPr>
              <a:t>OmniRecon</a:t>
            </a:r>
            <a:r>
              <a:rPr sz="1200" dirty="0">
                <a:solidFill>
                  <a:srgbClr val="BAC9E0"/>
                </a:solidFill>
                <a:latin typeface="Calibri"/>
              </a:rPr>
              <a:t> into a minimal, lightweight OCI container image for reproducible deployments.</a:t>
            </a:r>
          </a:p>
          <a:p>
            <a:pPr>
              <a:spcAft>
                <a:spcPts val="1000"/>
              </a:spcAft>
            </a:pPr>
            <a:r>
              <a:rPr sz="1200" b="1" dirty="0">
                <a:solidFill>
                  <a:srgbClr val="00E5FF"/>
                </a:solidFill>
                <a:latin typeface="Consolas"/>
              </a:rPr>
              <a:t>▸ </a:t>
            </a:r>
            <a:r>
              <a:rPr sz="1200" b="1" dirty="0">
                <a:solidFill>
                  <a:srgbClr val="FFFFFF"/>
                </a:solidFill>
                <a:latin typeface="Trebuchet MS"/>
              </a:rPr>
              <a:t>GitHub Actions Integration: </a:t>
            </a:r>
            <a:r>
              <a:rPr sz="1200" dirty="0">
                <a:solidFill>
                  <a:srgbClr val="BAC9E0"/>
                </a:solidFill>
                <a:latin typeface="Calibri"/>
              </a:rPr>
              <a:t>Automated scheduled workflow that scans enterprise domains weekly and alerts teams to changes.</a:t>
            </a:r>
          </a:p>
          <a:p>
            <a:pPr>
              <a:spcAft>
                <a:spcPts val="1000"/>
              </a:spcAft>
            </a:pPr>
            <a:r>
              <a:rPr sz="1200" b="1" dirty="0">
                <a:solidFill>
                  <a:srgbClr val="00E5FF"/>
                </a:solidFill>
                <a:latin typeface="Consolas"/>
              </a:rPr>
              <a:t>▸ </a:t>
            </a:r>
            <a:r>
              <a:rPr sz="1200" b="1" dirty="0">
                <a:solidFill>
                  <a:srgbClr val="FFFFFF"/>
                </a:solidFill>
                <a:latin typeface="Trebuchet MS"/>
              </a:rPr>
              <a:t>Attack Surface Drift Detection: </a:t>
            </a:r>
            <a:r>
              <a:rPr sz="1200" dirty="0">
                <a:solidFill>
                  <a:srgbClr val="BAC9E0"/>
                </a:solidFill>
                <a:latin typeface="Calibri"/>
              </a:rPr>
              <a:t>Diffs current scan results against historical JSON runs to alert on newly exposed subdomains in real-time.</a:t>
            </a:r>
          </a:p>
        </p:txBody>
      </p:sp>
      <p:sp>
        <p:nvSpPr>
          <p:cNvPr id="10" name="TextBox 9"/>
          <p:cNvSpPr txBox="1"/>
          <p:nvPr/>
        </p:nvSpPr>
        <p:spPr>
          <a:xfrm>
            <a:off x="8638287" y="1882805"/>
            <a:ext cx="2926080" cy="415498"/>
          </a:xfrm>
          <a:prstGeom prst="rect">
            <a:avLst/>
          </a:prstGeom>
          <a:noFill/>
        </p:spPr>
        <p:txBody>
          <a:bodyPr wrap="square" lIns="0" tIns="0" rIns="0" bIns="0">
            <a:spAutoFit/>
          </a:bodyPr>
          <a:lstStyle/>
          <a:p>
            <a:pPr>
              <a:defRPr sz="1100" b="1">
                <a:solidFill>
                  <a:srgbClr val="FF4081"/>
                </a:solidFill>
                <a:latin typeface="Consolas"/>
              </a:defRPr>
            </a:pPr>
            <a:r>
              <a:rPr dirty="0"/>
              <a:t>[OFFENSIVE AUDITING] </a:t>
            </a:r>
            <a:endParaRPr lang="en-IN" dirty="0"/>
          </a:p>
          <a:p>
            <a:pPr>
              <a:defRPr sz="1100" b="1">
                <a:solidFill>
                  <a:srgbClr val="FF4081"/>
                </a:solidFill>
                <a:latin typeface="Consolas"/>
              </a:defRPr>
            </a:pPr>
            <a:r>
              <a:rPr sz="1600" b="1" dirty="0">
                <a:solidFill>
                  <a:srgbClr val="FFFFFF"/>
                </a:solidFill>
                <a:latin typeface="Trebuchet MS"/>
              </a:rPr>
              <a:t>DNS Zone Transfer (AXFR)</a:t>
            </a:r>
          </a:p>
        </p:txBody>
      </p:sp>
      <p:sp>
        <p:nvSpPr>
          <p:cNvPr id="11" name="TextBox 10"/>
          <p:cNvSpPr txBox="1"/>
          <p:nvPr/>
        </p:nvSpPr>
        <p:spPr>
          <a:xfrm>
            <a:off x="8638287" y="2400300"/>
            <a:ext cx="2926080" cy="2971799"/>
          </a:xfrm>
          <a:prstGeom prst="rect">
            <a:avLst/>
          </a:prstGeom>
          <a:noFill/>
        </p:spPr>
        <p:txBody>
          <a:bodyPr wrap="square" lIns="0" tIns="0" rIns="0" bIns="0">
            <a:spAutoFit/>
          </a:bodyPr>
          <a:lstStyle/>
          <a:p>
            <a:pPr>
              <a:spcAft>
                <a:spcPts val="1000"/>
              </a:spcAft>
            </a:pPr>
            <a:r>
              <a:rPr sz="1200" b="1" dirty="0">
                <a:solidFill>
                  <a:srgbClr val="FF4081"/>
                </a:solidFill>
                <a:latin typeface="Consolas"/>
              </a:rPr>
              <a:t>▸ </a:t>
            </a:r>
            <a:r>
              <a:rPr sz="1200" b="1" dirty="0">
                <a:solidFill>
                  <a:srgbClr val="FFFFFF"/>
                </a:solidFill>
                <a:latin typeface="Trebuchet MS"/>
              </a:rPr>
              <a:t>Authoritative NS Auditing: </a:t>
            </a:r>
            <a:r>
              <a:rPr sz="1200" dirty="0">
                <a:solidFill>
                  <a:srgbClr val="BAC9E0"/>
                </a:solidFill>
                <a:latin typeface="Calibri"/>
              </a:rPr>
              <a:t>Automatically query discovered nameservers for unauthenticated DNS Zone Transfer (`AXFR`) misconfigurations.</a:t>
            </a:r>
          </a:p>
          <a:p>
            <a:pPr>
              <a:spcAft>
                <a:spcPts val="1000"/>
              </a:spcAft>
            </a:pPr>
            <a:r>
              <a:rPr sz="1200" b="1" dirty="0">
                <a:solidFill>
                  <a:srgbClr val="FF4081"/>
                </a:solidFill>
                <a:latin typeface="Consolas"/>
              </a:rPr>
              <a:t>▸ </a:t>
            </a:r>
            <a:r>
              <a:rPr sz="1200" b="1" dirty="0">
                <a:solidFill>
                  <a:srgbClr val="FFFFFF"/>
                </a:solidFill>
                <a:latin typeface="Trebuchet MS"/>
              </a:rPr>
              <a:t>Full Zone Extraction: </a:t>
            </a:r>
            <a:r>
              <a:rPr sz="1200" dirty="0">
                <a:solidFill>
                  <a:srgbClr val="BAC9E0"/>
                </a:solidFill>
                <a:latin typeface="Calibri"/>
              </a:rPr>
              <a:t>If a misconfigured nameserver permits AXFR, download and parse the entire internal DNS zone in seconds.</a:t>
            </a:r>
          </a:p>
          <a:p>
            <a:pPr>
              <a:spcAft>
                <a:spcPts val="1000"/>
              </a:spcAft>
            </a:pPr>
            <a:r>
              <a:rPr sz="1200" b="1" dirty="0">
                <a:solidFill>
                  <a:srgbClr val="FF4081"/>
                </a:solidFill>
                <a:latin typeface="Consolas"/>
              </a:rPr>
              <a:t>▸ </a:t>
            </a:r>
            <a:r>
              <a:rPr sz="1200" b="1" dirty="0">
                <a:solidFill>
                  <a:srgbClr val="FFFFFF"/>
                </a:solidFill>
                <a:latin typeface="Trebuchet MS"/>
              </a:rPr>
              <a:t>Asynchronous Implementation: </a:t>
            </a:r>
            <a:r>
              <a:rPr sz="1200" dirty="0">
                <a:solidFill>
                  <a:srgbClr val="BAC9E0"/>
                </a:solidFill>
                <a:latin typeface="Calibri"/>
              </a:rPr>
              <a:t>Integrate non-blocking AXFR queries directly into the DNS harvesting phase.</a:t>
            </a:r>
          </a:p>
        </p:txBody>
      </p:sp>
      <p:sp>
        <p:nvSpPr>
          <p:cNvPr id="12" name="Rounded Rectangle 11"/>
          <p:cNvSpPr/>
          <p:nvPr/>
        </p:nvSpPr>
        <p:spPr>
          <a:xfrm>
            <a:off x="4506881" y="1654520"/>
            <a:ext cx="33832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16418" y="1904169"/>
            <a:ext cx="2926080" cy="502920"/>
          </a:xfrm>
          <a:prstGeom prst="rect">
            <a:avLst/>
          </a:prstGeom>
          <a:noFill/>
        </p:spPr>
        <p:txBody>
          <a:bodyPr wrap="square" lIns="0" tIns="0" rIns="0" bIns="0">
            <a:spAutoFit/>
          </a:bodyPr>
          <a:lstStyle/>
          <a:p>
            <a:pPr>
              <a:defRPr sz="1100" b="1">
                <a:solidFill>
                  <a:srgbClr val="00E676"/>
                </a:solidFill>
                <a:latin typeface="Consolas"/>
              </a:defRPr>
            </a:pPr>
            <a:r>
              <a:rPr dirty="0"/>
              <a:t>[INTELLIGENT ENUMERATION] </a:t>
            </a:r>
            <a:r>
              <a:rPr sz="1600" b="1" dirty="0">
                <a:solidFill>
                  <a:srgbClr val="FFFFFF"/>
                </a:solidFill>
                <a:latin typeface="Trebuchet MS"/>
              </a:rPr>
              <a:t>Permutation Fuzzing</a:t>
            </a:r>
          </a:p>
        </p:txBody>
      </p:sp>
      <p:sp>
        <p:nvSpPr>
          <p:cNvPr id="14" name="TextBox 13"/>
          <p:cNvSpPr txBox="1"/>
          <p:nvPr/>
        </p:nvSpPr>
        <p:spPr>
          <a:xfrm>
            <a:off x="4936196" y="2407089"/>
            <a:ext cx="2926080" cy="2971799"/>
          </a:xfrm>
          <a:prstGeom prst="rect">
            <a:avLst/>
          </a:prstGeom>
          <a:noFill/>
        </p:spPr>
        <p:txBody>
          <a:bodyPr wrap="square" lIns="0" tIns="0" rIns="0" bIns="0">
            <a:spAutoFit/>
          </a:bodyPr>
          <a:lstStyle/>
          <a:p>
            <a:pPr>
              <a:spcAft>
                <a:spcPts val="1000"/>
              </a:spcAft>
            </a:pPr>
            <a:r>
              <a:rPr sz="1200" b="1" dirty="0">
                <a:solidFill>
                  <a:srgbClr val="00E676"/>
                </a:solidFill>
                <a:latin typeface="Consolas"/>
              </a:rPr>
              <a:t>▸ </a:t>
            </a:r>
            <a:r>
              <a:rPr sz="1200" b="1" dirty="0">
                <a:solidFill>
                  <a:srgbClr val="FFFFFF"/>
                </a:solidFill>
                <a:latin typeface="Trebuchet MS"/>
              </a:rPr>
              <a:t>Contextual Mutations: </a:t>
            </a:r>
            <a:r>
              <a:rPr sz="1200" dirty="0">
                <a:solidFill>
                  <a:srgbClr val="BAC9E0"/>
                </a:solidFill>
                <a:latin typeface="Calibri"/>
              </a:rPr>
              <a:t>Extract naming patterns (`</a:t>
            </a:r>
            <a:r>
              <a:rPr sz="1200" dirty="0" err="1">
                <a:solidFill>
                  <a:srgbClr val="BAC9E0"/>
                </a:solidFill>
                <a:latin typeface="Calibri"/>
              </a:rPr>
              <a:t>api</a:t>
            </a:r>
            <a:r>
              <a:rPr sz="1200" dirty="0">
                <a:solidFill>
                  <a:srgbClr val="BAC9E0"/>
                </a:solidFill>
                <a:latin typeface="Calibri"/>
              </a:rPr>
              <a:t>-prod`, `dev-</a:t>
            </a:r>
            <a:r>
              <a:rPr sz="1200" dirty="0" err="1">
                <a:solidFill>
                  <a:srgbClr val="BAC9E0"/>
                </a:solidFill>
                <a:latin typeface="Calibri"/>
              </a:rPr>
              <a:t>vpn</a:t>
            </a:r>
            <a:r>
              <a:rPr sz="1200" dirty="0">
                <a:solidFill>
                  <a:srgbClr val="BAC9E0"/>
                </a:solidFill>
                <a:latin typeface="Calibri"/>
              </a:rPr>
              <a:t>`) and dynamically generate targeted alterations (`</a:t>
            </a:r>
            <a:r>
              <a:rPr sz="1200" dirty="0" err="1">
                <a:solidFill>
                  <a:srgbClr val="BAC9E0"/>
                </a:solidFill>
                <a:latin typeface="Calibri"/>
              </a:rPr>
              <a:t>api</a:t>
            </a:r>
            <a:r>
              <a:rPr sz="1200" dirty="0">
                <a:solidFill>
                  <a:srgbClr val="BAC9E0"/>
                </a:solidFill>
                <a:latin typeface="Calibri"/>
              </a:rPr>
              <a:t>-dev`, `</a:t>
            </a:r>
            <a:r>
              <a:rPr sz="1200" dirty="0" err="1">
                <a:solidFill>
                  <a:srgbClr val="BAC9E0"/>
                </a:solidFill>
                <a:latin typeface="Calibri"/>
              </a:rPr>
              <a:t>api-uat</a:t>
            </a:r>
            <a:r>
              <a:rPr sz="1200" dirty="0">
                <a:solidFill>
                  <a:srgbClr val="BAC9E0"/>
                </a:solidFill>
                <a:latin typeface="Calibri"/>
              </a:rPr>
              <a:t>`).</a:t>
            </a:r>
          </a:p>
          <a:p>
            <a:pPr>
              <a:spcAft>
                <a:spcPts val="1000"/>
              </a:spcAft>
            </a:pPr>
            <a:r>
              <a:rPr sz="1200" b="1" dirty="0">
                <a:solidFill>
                  <a:srgbClr val="00E676"/>
                </a:solidFill>
                <a:latin typeface="Consolas"/>
              </a:rPr>
              <a:t>▸ </a:t>
            </a:r>
            <a:r>
              <a:rPr sz="1200" b="1" dirty="0">
                <a:solidFill>
                  <a:srgbClr val="FFFFFF"/>
                </a:solidFill>
                <a:latin typeface="Trebuchet MS"/>
              </a:rPr>
              <a:t>Recursive Async Resolution: </a:t>
            </a:r>
            <a:r>
              <a:rPr sz="1200" dirty="0">
                <a:solidFill>
                  <a:srgbClr val="BAC9E0"/>
                </a:solidFill>
                <a:latin typeface="Calibri"/>
              </a:rPr>
              <a:t>Feed generated permutations back into the `</a:t>
            </a:r>
            <a:r>
              <a:rPr sz="1200" dirty="0" err="1">
                <a:solidFill>
                  <a:srgbClr val="BAC9E0"/>
                </a:solidFill>
                <a:latin typeface="Calibri"/>
              </a:rPr>
              <a:t>aiodns</a:t>
            </a:r>
            <a:r>
              <a:rPr sz="1200" dirty="0">
                <a:solidFill>
                  <a:srgbClr val="BAC9E0"/>
                </a:solidFill>
                <a:latin typeface="Calibri"/>
              </a:rPr>
              <a:t>` engine to uncover unlinked development clusters.</a:t>
            </a:r>
          </a:p>
          <a:p>
            <a:pPr>
              <a:spcAft>
                <a:spcPts val="1000"/>
              </a:spcAft>
            </a:pPr>
            <a:r>
              <a:rPr sz="1200" b="1" dirty="0">
                <a:solidFill>
                  <a:srgbClr val="00E676"/>
                </a:solidFill>
                <a:latin typeface="Consolas"/>
              </a:rPr>
              <a:t>▸ </a:t>
            </a:r>
            <a:r>
              <a:rPr sz="1200" b="1" dirty="0">
                <a:solidFill>
                  <a:srgbClr val="FFFFFF"/>
                </a:solidFill>
                <a:latin typeface="Trebuchet MS"/>
              </a:rPr>
              <a:t>Executive HTML/PDF Reports: </a:t>
            </a:r>
            <a:r>
              <a:rPr sz="1200" dirty="0">
                <a:solidFill>
                  <a:srgbClr val="BAC9E0"/>
                </a:solidFill>
                <a:latin typeface="Calibri"/>
              </a:rPr>
              <a:t>Jinja2-powered standalone executive summaries with risk scoring and visual network topology graphs.</a:t>
            </a:r>
          </a:p>
        </p:txBody>
      </p:sp>
      <p:sp>
        <p:nvSpPr>
          <p:cNvPr id="15" name="Rounded Rectangle 14"/>
          <p:cNvSpPr/>
          <p:nvPr/>
        </p:nvSpPr>
        <p:spPr>
          <a:xfrm>
            <a:off x="731520" y="5532120"/>
            <a:ext cx="10698480" cy="77724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5715000"/>
            <a:ext cx="10241280" cy="411480"/>
          </a:xfrm>
          <a:prstGeom prst="rect">
            <a:avLst/>
          </a:prstGeom>
          <a:noFill/>
        </p:spPr>
        <p:txBody>
          <a:bodyPr wrap="square" lIns="0" tIns="0" rIns="0" bIns="0">
            <a:spAutoFit/>
          </a:bodyPr>
          <a:lstStyle/>
          <a:p>
            <a:pPr>
              <a:spcAft>
                <a:spcPts val="1000"/>
              </a:spcAft>
            </a:pPr>
            <a:r>
              <a:rPr sz="1200" b="1">
                <a:solidFill>
                  <a:srgbClr val="448AFF"/>
                </a:solidFill>
                <a:latin typeface="Consolas"/>
              </a:rPr>
              <a:t>🔮 </a:t>
            </a:r>
            <a:r>
              <a:rPr sz="1200" b="1">
                <a:solidFill>
                  <a:srgbClr val="FFFFFF"/>
                </a:solidFill>
                <a:latin typeface="Trebuchet MS"/>
              </a:rPr>
              <a:t>VISION: </a:t>
            </a:r>
            <a:r>
              <a:rPr sz="1200">
                <a:solidFill>
                  <a:srgbClr val="BAC9E0"/>
                </a:solidFill>
                <a:latin typeface="Calibri"/>
              </a:rPr>
              <a:t>Transforming OmniRecon from a point-in-time CLI scanner into a continuous, cloud-native Attack Surface Management (ASM) daemon for modern DevSecOps environments.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7"/>
          </a:solidFill>
          <a:ln>
            <a:solidFill>
              <a:srgbClr val="0A0E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00E5FF"/>
                </a:solidFill>
                <a:latin typeface="Consolas"/>
              </a:defRPr>
            </a:pPr>
            <a:r>
              <a:t>// 08. CONCLUSION &amp; DISCUSSION</a:t>
            </a:r>
          </a:p>
          <a:p>
            <a:pPr>
              <a:spcAft>
                <a:spcPts val="200"/>
              </a:spcAft>
              <a:defRPr sz="2400" b="1">
                <a:solidFill>
                  <a:srgbClr val="FFFFFF"/>
                </a:solidFill>
                <a:latin typeface="Trebuchet MS"/>
              </a:defRPr>
            </a:pPr>
            <a:r>
              <a:t>Conclusion &amp; Technical Q&amp;A</a:t>
            </a:r>
          </a:p>
          <a:p>
            <a:pPr>
              <a:defRPr sz="1200">
                <a:solidFill>
                  <a:srgbClr val="BAC9E0"/>
                </a:solidFill>
                <a:latin typeface="Calibri"/>
              </a:defRPr>
            </a:pPr>
            <a:r>
              <a:t>A high-performance bridge between offensive security discovery and modern async software engineering.</a:t>
            </a:r>
          </a:p>
        </p:txBody>
      </p:sp>
      <p:sp>
        <p:nvSpPr>
          <p:cNvPr id="4" name="Rectangle 3"/>
          <p:cNvSpPr/>
          <p:nvPr/>
        </p:nvSpPr>
        <p:spPr>
          <a:xfrm>
            <a:off x="731520" y="1417320"/>
            <a:ext cx="10728655" cy="22860"/>
          </a:xfrm>
          <a:prstGeom prst="rect">
            <a:avLst/>
          </a:prstGeom>
          <a:solidFill>
            <a:srgbClr val="23324E"/>
          </a:solidFill>
          <a:ln>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728655" cy="274320"/>
          </a:xfrm>
          <a:prstGeom prst="rect">
            <a:avLst/>
          </a:prstGeom>
          <a:noFill/>
        </p:spPr>
        <p:txBody>
          <a:bodyPr wrap="square" lIns="0" tIns="0" rIns="0" bIns="0">
            <a:spAutoFit/>
          </a:bodyPr>
          <a:lstStyle/>
          <a:p>
            <a:pPr>
              <a:defRPr sz="900">
                <a:solidFill>
                  <a:srgbClr val="768BAD"/>
                </a:solidFill>
                <a:latin typeface="Consolas"/>
              </a:defRPr>
            </a:pPr>
            <a:r>
              <a:t>OmniRecon  |  Modular Reconnaissance &amp; Attack Surface Toolkit  •  Deepakraj S</a:t>
            </a:r>
          </a:p>
        </p:txBody>
      </p:sp>
      <p:sp>
        <p:nvSpPr>
          <p:cNvPr id="6" name="Rounded Rectangle 5"/>
          <p:cNvSpPr/>
          <p:nvPr/>
        </p:nvSpPr>
        <p:spPr>
          <a:xfrm>
            <a:off x="7315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828800"/>
            <a:ext cx="4754880" cy="502920"/>
          </a:xfrm>
          <a:prstGeom prst="rect">
            <a:avLst/>
          </a:prstGeom>
          <a:noFill/>
        </p:spPr>
        <p:txBody>
          <a:bodyPr wrap="square" lIns="0" tIns="0" rIns="0" bIns="0">
            <a:spAutoFit/>
          </a:bodyPr>
          <a:lstStyle/>
          <a:p>
            <a:pPr>
              <a:defRPr sz="1100" b="1">
                <a:solidFill>
                  <a:srgbClr val="00E5FF"/>
                </a:solidFill>
                <a:latin typeface="Consolas"/>
              </a:defRPr>
            </a:pPr>
            <a:r>
              <a:t>[PROJECT SUMMARY] </a:t>
            </a:r>
            <a:r>
              <a:rPr sz="1600" b="1">
                <a:solidFill>
                  <a:srgbClr val="FFFFFF"/>
                </a:solidFill>
                <a:latin typeface="Trebuchet MS"/>
              </a:rPr>
              <a:t>Key Technical Takeaways</a:t>
            </a:r>
          </a:p>
        </p:txBody>
      </p:sp>
      <p:sp>
        <p:nvSpPr>
          <p:cNvPr id="8" name="TextBox 7"/>
          <p:cNvSpPr txBox="1"/>
          <p:nvPr/>
        </p:nvSpPr>
        <p:spPr>
          <a:xfrm>
            <a:off x="960120" y="2286000"/>
            <a:ext cx="4754880" cy="2971799"/>
          </a:xfrm>
          <a:prstGeom prst="rect">
            <a:avLst/>
          </a:prstGeom>
          <a:noFill/>
        </p:spPr>
        <p:txBody>
          <a:bodyPr wrap="square" lIns="0" tIns="0" rIns="0" bIns="0">
            <a:spAutoFit/>
          </a:bodyPr>
          <a:lstStyle/>
          <a:p>
            <a:pPr>
              <a:spcAft>
                <a:spcPts val="1000"/>
              </a:spcAft>
            </a:pPr>
            <a:r>
              <a:rPr sz="1200" b="1">
                <a:solidFill>
                  <a:srgbClr val="00E5FF"/>
                </a:solidFill>
                <a:latin typeface="Consolas"/>
              </a:rPr>
              <a:t>▸ </a:t>
            </a:r>
            <a:r>
              <a:rPr sz="1200" b="1">
                <a:solidFill>
                  <a:srgbClr val="FFFFFF"/>
                </a:solidFill>
                <a:latin typeface="Trebuchet MS"/>
              </a:rPr>
              <a:t>Full Attack Surface Coverage: </a:t>
            </a:r>
            <a:r>
              <a:rPr sz="1200">
                <a:solidFill>
                  <a:srgbClr val="BAC9E0"/>
                </a:solidFill>
                <a:latin typeface="Calibri"/>
              </a:rPr>
              <a:t>Unifies WHOIS/RDAP, core DNS records, passive CT logs, active brute-force, and HTTP probing.</a:t>
            </a:r>
          </a:p>
          <a:p>
            <a:pPr>
              <a:spcAft>
                <a:spcPts val="1000"/>
              </a:spcAft>
            </a:pPr>
            <a:r>
              <a:rPr sz="1200" b="1">
                <a:solidFill>
                  <a:srgbClr val="00E5FF"/>
                </a:solidFill>
                <a:latin typeface="Consolas"/>
              </a:rPr>
              <a:t>▸ </a:t>
            </a:r>
            <a:r>
              <a:rPr sz="1200" b="1">
                <a:solidFill>
                  <a:srgbClr val="FFFFFF"/>
                </a:solidFill>
                <a:latin typeface="Trebuchet MS"/>
              </a:rPr>
              <a:t>High-Throughput Concurrency: </a:t>
            </a:r>
            <a:r>
              <a:rPr sz="1200">
                <a:solidFill>
                  <a:srgbClr val="BAC9E0"/>
                </a:solidFill>
                <a:latin typeface="Calibri"/>
              </a:rPr>
              <a:t>AsyncIO event loop + aiodns + httpx delivers enterprise-grade scalability with bounded memory usage.</a:t>
            </a:r>
          </a:p>
          <a:p>
            <a:pPr>
              <a:spcAft>
                <a:spcPts val="1000"/>
              </a:spcAft>
            </a:pPr>
            <a:r>
              <a:rPr sz="1200" b="1">
                <a:solidFill>
                  <a:srgbClr val="00E5FF"/>
                </a:solidFill>
                <a:latin typeface="Consolas"/>
              </a:rPr>
              <a:t>▸ </a:t>
            </a:r>
            <a:r>
              <a:rPr sz="1200" b="1">
                <a:solidFill>
                  <a:srgbClr val="FFFFFF"/>
                </a:solidFill>
                <a:latin typeface="Trebuchet MS"/>
              </a:rPr>
              <a:t>Actionable Vulnerability Impact: </a:t>
            </a:r>
            <a:r>
              <a:rPr sz="1200">
                <a:solidFill>
                  <a:srgbClr val="BAC9E0"/>
                </a:solidFill>
                <a:latin typeface="Calibri"/>
              </a:rPr>
              <a:t>Directly identifies critical Subdomain Takeovers across major cloud infrastructure providers.</a:t>
            </a:r>
          </a:p>
          <a:p>
            <a:pPr>
              <a:spcAft>
                <a:spcPts val="1000"/>
              </a:spcAft>
            </a:pPr>
            <a:r>
              <a:rPr sz="1200" b="1">
                <a:solidFill>
                  <a:srgbClr val="00E5FF"/>
                </a:solidFill>
                <a:latin typeface="Consolas"/>
              </a:rPr>
              <a:t>▸ </a:t>
            </a:r>
            <a:r>
              <a:rPr sz="1200" b="1">
                <a:solidFill>
                  <a:srgbClr val="FFFFFF"/>
                </a:solidFill>
                <a:latin typeface="Trebuchet MS"/>
              </a:rPr>
              <a:t>Software Engineering Best Practices: </a:t>
            </a:r>
            <a:r>
              <a:rPr sz="1200">
                <a:solidFill>
                  <a:srgbClr val="BAC9E0"/>
                </a:solidFill>
                <a:latin typeface="Calibri"/>
              </a:rPr>
              <a:t>Clean decoupled architecture, typed dataclasses, resilient fallbacks, and 100% offline mocked unit tests.</a:t>
            </a:r>
          </a:p>
        </p:txBody>
      </p:sp>
      <p:sp>
        <p:nvSpPr>
          <p:cNvPr id="9" name="Rounded Rectangle 8"/>
          <p:cNvSpPr/>
          <p:nvPr/>
        </p:nvSpPr>
        <p:spPr>
          <a:xfrm>
            <a:off x="6217920" y="1645920"/>
            <a:ext cx="5212080" cy="3749039"/>
          </a:xfrm>
          <a:prstGeom prst="roundRect">
            <a:avLst/>
          </a:prstGeom>
          <a:solidFill>
            <a:srgbClr val="131B2E"/>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828800"/>
            <a:ext cx="4754880" cy="502920"/>
          </a:xfrm>
          <a:prstGeom prst="rect">
            <a:avLst/>
          </a:prstGeom>
          <a:noFill/>
        </p:spPr>
        <p:txBody>
          <a:bodyPr wrap="square" lIns="0" tIns="0" rIns="0" bIns="0">
            <a:spAutoFit/>
          </a:bodyPr>
          <a:lstStyle/>
          <a:p>
            <a:pPr>
              <a:defRPr sz="1100" b="1">
                <a:solidFill>
                  <a:srgbClr val="00E676"/>
                </a:solidFill>
                <a:latin typeface="Consolas"/>
              </a:defRPr>
            </a:pPr>
            <a:r>
              <a:t>[TECH STACK &amp; REPO] </a:t>
            </a:r>
            <a:r>
              <a:rPr sz="1600" b="1">
                <a:solidFill>
                  <a:srgbClr val="FFFFFF"/>
                </a:solidFill>
                <a:latin typeface="Trebuchet MS"/>
              </a:rPr>
              <a:t>Open for Questions</a:t>
            </a:r>
          </a:p>
        </p:txBody>
      </p:sp>
      <p:sp>
        <p:nvSpPr>
          <p:cNvPr id="11" name="TextBox 10"/>
          <p:cNvSpPr txBox="1"/>
          <p:nvPr/>
        </p:nvSpPr>
        <p:spPr>
          <a:xfrm>
            <a:off x="6446520" y="2286000"/>
            <a:ext cx="4754880" cy="2971799"/>
          </a:xfrm>
          <a:prstGeom prst="rect">
            <a:avLst/>
          </a:prstGeom>
          <a:noFill/>
        </p:spPr>
        <p:txBody>
          <a:bodyPr wrap="square" lIns="0" tIns="0" rIns="0" bIns="0">
            <a:spAutoFit/>
          </a:bodyPr>
          <a:lstStyle/>
          <a:p>
            <a:pPr>
              <a:spcAft>
                <a:spcPts val="1000"/>
              </a:spcAft>
            </a:pPr>
            <a:r>
              <a:rPr sz="1200" b="1">
                <a:solidFill>
                  <a:srgbClr val="00E676"/>
                </a:solidFill>
                <a:latin typeface="Consolas"/>
              </a:rPr>
              <a:t>▸ </a:t>
            </a:r>
            <a:r>
              <a:rPr sz="1200" b="1">
                <a:solidFill>
                  <a:srgbClr val="FFFFFF"/>
                </a:solidFill>
                <a:latin typeface="Trebuchet MS"/>
              </a:rPr>
              <a:t>Core Language: </a:t>
            </a:r>
            <a:r>
              <a:rPr sz="1200">
                <a:solidFill>
                  <a:srgbClr val="BAC9E0"/>
                </a:solidFill>
                <a:latin typeface="Calibri"/>
              </a:rPr>
              <a:t>Python 3.9+ (Modern type hinting, AsyncIO event loop)</a:t>
            </a:r>
          </a:p>
          <a:p>
            <a:pPr>
              <a:spcAft>
                <a:spcPts val="1000"/>
              </a:spcAft>
            </a:pPr>
            <a:r>
              <a:rPr sz="1200" b="1">
                <a:solidFill>
                  <a:srgbClr val="00E676"/>
                </a:solidFill>
                <a:latin typeface="Consolas"/>
              </a:rPr>
              <a:t>▸ </a:t>
            </a:r>
            <a:r>
              <a:rPr sz="1200" b="1">
                <a:solidFill>
                  <a:srgbClr val="FFFFFF"/>
                </a:solidFill>
                <a:latin typeface="Trebuchet MS"/>
              </a:rPr>
              <a:t>Asynchronous Networking: </a:t>
            </a:r>
            <a:r>
              <a:rPr sz="1200">
                <a:solidFill>
                  <a:srgbClr val="BAC9E0"/>
                </a:solidFill>
                <a:latin typeface="Calibri"/>
              </a:rPr>
              <a:t>`aiodns` (C-ares DNS resolver), `httpx` (Async HTTP/2 client)</a:t>
            </a:r>
          </a:p>
          <a:p>
            <a:pPr>
              <a:spcAft>
                <a:spcPts val="1000"/>
              </a:spcAft>
            </a:pPr>
            <a:r>
              <a:rPr sz="1200" b="1">
                <a:solidFill>
                  <a:srgbClr val="00E676"/>
                </a:solidFill>
                <a:latin typeface="Consolas"/>
              </a:rPr>
              <a:t>▸ </a:t>
            </a:r>
            <a:r>
              <a:rPr sz="1200" b="1">
                <a:solidFill>
                  <a:srgbClr val="FFFFFF"/>
                </a:solidFill>
                <a:latin typeface="Trebuchet MS"/>
              </a:rPr>
              <a:t>DNS &amp; Network Libraries: </a:t>
            </a:r>
            <a:r>
              <a:rPr sz="1200">
                <a:solidFill>
                  <a:srgbClr val="BAC9E0"/>
                </a:solidFill>
                <a:latin typeface="Calibri"/>
              </a:rPr>
              <a:t>`dnspython`, `python-whois`, ICANN RESTful RDAP fallback</a:t>
            </a:r>
          </a:p>
          <a:p>
            <a:pPr>
              <a:spcAft>
                <a:spcPts val="1000"/>
              </a:spcAft>
            </a:pPr>
            <a:r>
              <a:rPr sz="1200" b="1">
                <a:solidFill>
                  <a:srgbClr val="00E676"/>
                </a:solidFill>
                <a:latin typeface="Consolas"/>
              </a:rPr>
              <a:t>▸ </a:t>
            </a:r>
            <a:r>
              <a:rPr sz="1200" b="1">
                <a:solidFill>
                  <a:srgbClr val="FFFFFF"/>
                </a:solidFill>
                <a:latin typeface="Trebuchet MS"/>
              </a:rPr>
              <a:t>Testing &amp; Code Quality: </a:t>
            </a:r>
            <a:r>
              <a:rPr sz="1200">
                <a:solidFill>
                  <a:srgbClr val="BAC9E0"/>
                </a:solidFill>
                <a:latin typeface="Calibri"/>
              </a:rPr>
              <a:t>`unittest`, `unittest.mock.AsyncMock`, `flake8`, `black`</a:t>
            </a:r>
          </a:p>
          <a:p>
            <a:pPr>
              <a:spcAft>
                <a:spcPts val="1000"/>
              </a:spcAft>
            </a:pPr>
            <a:r>
              <a:rPr sz="1200" b="1">
                <a:solidFill>
                  <a:srgbClr val="00E676"/>
                </a:solidFill>
                <a:latin typeface="Consolas"/>
              </a:rPr>
              <a:t>▸ </a:t>
            </a:r>
            <a:r>
              <a:rPr sz="1200" b="1">
                <a:solidFill>
                  <a:srgbClr val="FFFFFF"/>
                </a:solidFill>
                <a:latin typeface="Trebuchet MS"/>
              </a:rPr>
              <a:t>Presenter: </a:t>
            </a:r>
            <a:r>
              <a:rPr sz="1200">
                <a:solidFill>
                  <a:srgbClr val="BAC9E0"/>
                </a:solidFill>
                <a:latin typeface="Calibri"/>
              </a:rPr>
              <a:t>Deepakraj S  |  GitHub: OmniRecon Project</a:t>
            </a:r>
          </a:p>
        </p:txBody>
      </p:sp>
      <p:sp>
        <p:nvSpPr>
          <p:cNvPr id="12" name="Rounded Rectangle 11"/>
          <p:cNvSpPr/>
          <p:nvPr/>
        </p:nvSpPr>
        <p:spPr>
          <a:xfrm>
            <a:off x="731520" y="5532120"/>
            <a:ext cx="10698480" cy="777240"/>
          </a:xfrm>
          <a:prstGeom prst="roundRect">
            <a:avLst/>
          </a:prstGeom>
          <a:solidFill>
            <a:srgbClr val="0F1728"/>
          </a:solidFill>
          <a:ln w="15240">
            <a:solidFill>
              <a:srgbClr val="2332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715000"/>
            <a:ext cx="10241280" cy="411480"/>
          </a:xfrm>
          <a:prstGeom prst="rect">
            <a:avLst/>
          </a:prstGeom>
          <a:noFill/>
        </p:spPr>
        <p:txBody>
          <a:bodyPr wrap="square" lIns="0" tIns="0" rIns="0" bIns="0">
            <a:spAutoFit/>
          </a:bodyPr>
          <a:lstStyle/>
          <a:p>
            <a:pPr>
              <a:spcAft>
                <a:spcPts val="1000"/>
              </a:spcAft>
            </a:pPr>
            <a:r>
              <a:rPr sz="1200" b="1">
                <a:solidFill>
                  <a:srgbClr val="00E5FF"/>
                </a:solidFill>
                <a:latin typeface="Consolas"/>
              </a:rPr>
              <a:t>💬 </a:t>
            </a:r>
            <a:r>
              <a:rPr sz="1200" b="1">
                <a:solidFill>
                  <a:srgbClr val="FFFFFF"/>
                </a:solidFill>
                <a:latin typeface="Trebuchet MS"/>
              </a:rPr>
              <a:t>THANK YOU: </a:t>
            </a:r>
            <a:r>
              <a:rPr sz="1200">
                <a:solidFill>
                  <a:srgbClr val="BAC9E0"/>
                </a:solidFill>
                <a:latin typeface="Calibri"/>
              </a:rPr>
              <a:t>I welcome any questions regarding the AsyncIO architecture, concurrency throttling trade-offs, takeover detection algorithms, or future roadmap items.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3900</Words>
  <Application>Microsoft Office PowerPoint</Application>
  <PresentationFormat>Widescreen</PresentationFormat>
  <Paragraphs>228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Deepakraj Sundaresan</cp:lastModifiedBy>
  <cp:revision>3</cp:revision>
  <dcterms:created xsi:type="dcterms:W3CDTF">2013-01-27T09:14:16Z</dcterms:created>
  <dcterms:modified xsi:type="dcterms:W3CDTF">2026-10-06T09:06:22Z</dcterms:modified>
  <cp:category/>
</cp:coreProperties>
</file>